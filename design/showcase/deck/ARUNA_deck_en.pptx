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jpg"/><Relationship Id="rId9" Type="http://schemas.openxmlformats.org/officeDocument/2006/relationships/image" Target="../media/image21.jpg"/><Relationship Id="rId10" Type="http://schemas.openxmlformats.org/officeDocument/2006/relationships/image" Target="../media/image2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01</a:t>
            </a:r>
          </a:p>
        </p:txBody>
      </p:sp>
      <p:pic>
        <p:nvPicPr>
          <p:cNvPr id="5" name="FX_FLOAT_Cover" descr="cover_sc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211" y="594360"/>
            <a:ext cx="4695444" cy="6035040"/>
          </a:xfrm>
          <a:prstGeom prst="rect">
            <a:avLst/>
          </a:prstGeom>
        </p:spPr>
      </p:pic>
      <p:sp>
        <p:nvSpPr>
          <p:cNvPr id="6" name="Chip"/>
          <p:cNvSpPr/>
          <p:nvPr/>
        </p:nvSpPr>
        <p:spPr>
          <a:xfrm>
            <a:off x="548640" y="868680"/>
            <a:ext cx="5129783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RESEARCH &amp; DEVELOPMENT · ENVIRONMENTAL ENGINEERING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548640" y="132588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10201A"/>
                </a:solidFill>
                <a:latin typeface="Segoe UI"/>
              </a:rPr>
              <a:t>ARUNA</a:t>
            </a:r>
          </a:p>
        </p:txBody>
      </p:sp>
      <p:sp>
        <p:nvSpPr>
          <p:cNvPr id="8" name="Sub"/>
          <p:cNvSpPr txBox="1"/>
          <p:nvPr/>
        </p:nvSpPr>
        <p:spPr>
          <a:xfrm>
            <a:off x="548640" y="2514600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10201A"/>
                </a:solidFill>
                <a:latin typeface="Segoe UI"/>
              </a:rPr>
              <a:t>Kinetic-based design of an IoT-enabled </a:t>
            </a:r>
            <a:r>
              <a:rPr sz="2400" b="1">
                <a:solidFill>
                  <a:srgbClr val="158A52"/>
                </a:solidFill>
                <a:latin typeface="Segoe UI"/>
              </a:rPr>
              <a:t>household anaerobic digester for food waste</a:t>
            </a:r>
          </a:p>
        </p:txBody>
      </p:sp>
      <p:sp>
        <p:nvSpPr>
          <p:cNvPr id="9" name="Desc"/>
          <p:cNvSpPr txBox="1"/>
          <p:nvPr/>
        </p:nvSpPr>
        <p:spPr>
          <a:xfrm>
            <a:off x="548640" y="379476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A5B52"/>
                </a:solidFill>
                <a:latin typeface="Segoe UI"/>
              </a:rPr>
              <a:t>Anaerobic Recycling and Upcycling of Nutrient-rich food wAste: sized from mass balance and Gompertz kinetics, instrumented with NDIR methane sensing and safety interlocks.</a:t>
            </a:r>
          </a:p>
        </p:txBody>
      </p:sp>
      <p:sp>
        <p:nvSpPr>
          <p:cNvPr id="10" name="SDG_0"/>
          <p:cNvSpPr/>
          <p:nvPr/>
        </p:nvSpPr>
        <p:spPr>
          <a:xfrm>
            <a:off x="548640" y="48463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C89A08"/>
          </a:solidFill>
          <a:ln w="9525">
            <a:solidFill>
              <a:srgbClr val="C89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SDG 7.1</a:t>
            </a:r>
          </a:p>
        </p:txBody>
      </p:sp>
      <p:sp>
        <p:nvSpPr>
          <p:cNvPr id="11" name="SDG_1"/>
          <p:cNvSpPr/>
          <p:nvPr/>
        </p:nvSpPr>
        <p:spPr>
          <a:xfrm>
            <a:off x="1572768" y="48463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08010"/>
          </a:solidFill>
          <a:ln w="9525">
            <a:solidFill>
              <a:srgbClr val="E08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SDG 11.6</a:t>
            </a:r>
          </a:p>
        </p:txBody>
      </p:sp>
      <p:sp>
        <p:nvSpPr>
          <p:cNvPr id="12" name="SDG_2"/>
          <p:cNvSpPr/>
          <p:nvPr/>
        </p:nvSpPr>
        <p:spPr>
          <a:xfrm>
            <a:off x="2596896" y="48463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A07426"/>
          </a:solidFill>
          <a:ln w="9525">
            <a:solidFill>
              <a:srgbClr val="A07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SDG 12.3</a:t>
            </a:r>
          </a:p>
        </p:txBody>
      </p:sp>
      <p:sp>
        <p:nvSpPr>
          <p:cNvPr id="13" name="SDG_3"/>
          <p:cNvSpPr/>
          <p:nvPr/>
        </p:nvSpPr>
        <p:spPr>
          <a:xfrm>
            <a:off x="3621024" y="48463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3F7E44"/>
          </a:solidFill>
          <a:ln w="9525">
            <a:solidFill>
              <a:srgbClr val="3F7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SDG 13.2</a:t>
            </a:r>
          </a:p>
        </p:txBody>
      </p:sp>
      <p:sp>
        <p:nvSpPr>
          <p:cNvPr id="14" name="Team"/>
          <p:cNvSpPr txBox="1"/>
          <p:nvPr/>
        </p:nvSpPr>
        <p:spPr>
          <a:xfrm>
            <a:off x="548640" y="5486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8741A"/>
                </a:solidFill>
                <a:latin typeface="Segoe UI"/>
              </a:rPr>
              <a:t>[Team name]</a:t>
            </a:r>
            <a:r>
              <a:rPr sz="1200" b="0">
                <a:solidFill>
                  <a:srgbClr val="4A5B52"/>
                </a:solidFill>
                <a:latin typeface="Segoe UI"/>
              </a:rPr>
              <a:t>  ·  [Supervisor]  ·  [Institution]  · 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42" dur="2600" accel="50000" decel="50000" autoRev="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45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6797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02 · BACKGROUND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Food waste is Indonesia's </a:t>
            </a:r>
            <a:r>
              <a:rPr sz="3200" b="1">
                <a:solidFill>
                  <a:srgbClr val="158A52"/>
                </a:solidFill>
                <a:latin typeface="Segoe UI"/>
              </a:rPr>
              <a:t>largest organic waste stream.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02</a:t>
            </a:r>
          </a:p>
        </p:txBody>
      </p:sp>
      <p:pic>
        <p:nvPicPr>
          <p:cNvPr id="7" name="Stat_0_card" descr="raise_2.80_1.7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463040"/>
            <a:ext cx="3200400" cy="2240280"/>
          </a:xfrm>
          <a:prstGeom prst="rect">
            <a:avLst/>
          </a:prstGeom>
        </p:spPr>
      </p:pic>
      <p:sp>
        <p:nvSpPr>
          <p:cNvPr id="8" name="Stat_0"/>
          <p:cNvSpPr txBox="1"/>
          <p:nvPr/>
        </p:nvSpPr>
        <p:spPr>
          <a:xfrm>
            <a:off x="749808" y="1901952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58A52"/>
                </a:solidFill>
                <a:latin typeface="Segoe UI"/>
              </a:rPr>
              <a:t>53 kg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0201A"/>
                </a:solidFill>
                <a:latin typeface="Segoe UI"/>
              </a:rPr>
              <a:t>household food waste per capita per year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UNEP (2024)</a:t>
            </a:r>
          </a:p>
        </p:txBody>
      </p:sp>
      <p:pic>
        <p:nvPicPr>
          <p:cNvPr id="9" name="Stat_1_card" descr="raise_2.80_1.7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808" y="1463040"/>
            <a:ext cx="3200400" cy="2240280"/>
          </a:xfrm>
          <a:prstGeom prst="rect">
            <a:avLst/>
          </a:prstGeom>
        </p:spPr>
      </p:pic>
      <p:sp>
        <p:nvSpPr>
          <p:cNvPr id="10" name="Stat_1"/>
          <p:cNvSpPr txBox="1"/>
          <p:nvPr/>
        </p:nvSpPr>
        <p:spPr>
          <a:xfrm>
            <a:off x="3557016" y="1901952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7A6A"/>
                </a:solidFill>
                <a:latin typeface="Segoe UI"/>
              </a:rPr>
              <a:t>14.7 Mt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0201A"/>
                </a:solidFill>
                <a:latin typeface="Segoe UI"/>
              </a:rPr>
              <a:t>household food waste per year, Indonesia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UNEP (2024)</a:t>
            </a:r>
          </a:p>
        </p:txBody>
      </p:sp>
      <p:pic>
        <p:nvPicPr>
          <p:cNvPr id="11" name="Stat_2_card" descr="raise_2.80_1.7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016" y="1463040"/>
            <a:ext cx="3200400" cy="2240280"/>
          </a:xfrm>
          <a:prstGeom prst="rect">
            <a:avLst/>
          </a:prstGeom>
        </p:spPr>
      </p:pic>
      <p:sp>
        <p:nvSpPr>
          <p:cNvPr id="12" name="Stat_2"/>
          <p:cNvSpPr txBox="1"/>
          <p:nvPr/>
        </p:nvSpPr>
        <p:spPr>
          <a:xfrm>
            <a:off x="6364223" y="1901952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8741A"/>
                </a:solidFill>
                <a:latin typeface="Segoe UI"/>
              </a:rPr>
              <a:t>≈40%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0201A"/>
                </a:solidFill>
                <a:latin typeface="Segoe UI"/>
              </a:rPr>
              <a:t>of municipal solid waste is food waste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SIPSN KLHK (2023)</a:t>
            </a:r>
          </a:p>
        </p:txBody>
      </p:sp>
      <p:pic>
        <p:nvPicPr>
          <p:cNvPr id="13" name="Stat_3_card" descr="raise_2.80_1.7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224" y="1463040"/>
            <a:ext cx="3200400" cy="2240280"/>
          </a:xfrm>
          <a:prstGeom prst="rect">
            <a:avLst/>
          </a:prstGeom>
        </p:spPr>
      </p:pic>
      <p:sp>
        <p:nvSpPr>
          <p:cNvPr id="14" name="Stat_3"/>
          <p:cNvSpPr txBox="1"/>
          <p:nvPr/>
        </p:nvSpPr>
        <p:spPr>
          <a:xfrm>
            <a:off x="9171432" y="1901952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8443A"/>
                </a:solidFill>
                <a:latin typeface="Segoe UI"/>
              </a:rPr>
              <a:t>1.7 Gt</a:t>
            </a:r>
          </a:p>
          <a:p>
            <a:pPr algn="l">
              <a:lnSpc>
                <a:spcPct val="100000"/>
              </a:lnSpc>
            </a:pPr>
            <a:r>
              <a:rPr sz="1150" b="0">
                <a:solidFill>
                  <a:srgbClr val="10201A"/>
                </a:solidFill>
                <a:latin typeface="Segoe UI"/>
              </a:rPr>
              <a:t>CO₂e from food loss &amp; waste, 2000–2019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Bappenas (2021)</a:t>
            </a:r>
          </a:p>
        </p:txBody>
      </p:sp>
      <p:pic>
        <p:nvPicPr>
          <p:cNvPr id="15" name="Feed_card" descr="aura_5.90_2.55_0.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3337560"/>
            <a:ext cx="6035040" cy="2971800"/>
          </a:xfrm>
          <a:prstGeom prst="rect">
            <a:avLst/>
          </a:prstGeom>
        </p:spPr>
      </p:pic>
      <p:sp>
        <p:nvSpPr>
          <p:cNvPr id="16" name="Feed_h"/>
          <p:cNvSpPr txBox="1"/>
          <p:nvPr/>
        </p:nvSpPr>
        <p:spPr>
          <a:xfrm>
            <a:off x="777240" y="3794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6B40"/>
                </a:solidFill>
                <a:latin typeface="Segoe UI"/>
              </a:rPr>
              <a:t>Why anaerobic digestion?</a:t>
            </a:r>
          </a:p>
        </p:txBody>
      </p:sp>
      <p:graphicFrame>
        <p:nvGraphicFramePr>
          <p:cNvPr id="17" name="Feed_tbl"/>
          <p:cNvGraphicFramePr>
            <a:graphicFrameLocks noGrp="1"/>
          </p:cNvGraphicFramePr>
          <p:nvPr/>
        </p:nvGraphicFramePr>
        <p:xfrm>
          <a:off x="777240" y="4206240"/>
          <a:ext cx="493776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40"/>
                <a:gridCol w="1508760"/>
                <a:gridCol w="15087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Property of food waste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Typical value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Total solids (TS)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23–27 %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Xu et al. (2018)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Volatile solids (VS/TS)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90–95 %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Xu et al. (2018)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Biochemical CH₄ potential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330–490 mL CH₄/g VS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Zhang et al. (2007)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Theoretical (Buswell)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≈ 643 mL CH₄/g VS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Buswell &amp; Mueller (1952)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</a:tbl>
          </a:graphicData>
        </a:graphic>
      </p:graphicFrame>
      <p:pic>
        <p:nvPicPr>
          <p:cNvPr id="18" name="RQ_card" descr="raise_5.85_2.55_0.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337560"/>
            <a:ext cx="5989320" cy="2971800"/>
          </a:xfrm>
          <a:prstGeom prst="rect">
            <a:avLst/>
          </a:prstGeom>
        </p:spPr>
      </p:pic>
      <p:sp>
        <p:nvSpPr>
          <p:cNvPr id="19" name="RQ_h"/>
          <p:cNvSpPr txBox="1"/>
          <p:nvPr/>
        </p:nvSpPr>
        <p:spPr>
          <a:xfrm>
            <a:off x="6492240" y="3794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6B40"/>
                </a:solidFill>
                <a:latin typeface="Segoe UI"/>
              </a:rPr>
              <a:t>Research questions</a:t>
            </a:r>
          </a:p>
        </p:txBody>
      </p:sp>
      <p:sp>
        <p:nvSpPr>
          <p:cNvPr id="20" name="RQ"/>
          <p:cNvSpPr txBox="1"/>
          <p:nvPr/>
        </p:nvSpPr>
        <p:spPr>
          <a:xfrm>
            <a:off x="6492240" y="420624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58A52"/>
                </a:solidFill>
                <a:latin typeface="Segoe UI"/>
              </a:rPr>
              <a:t>● </a:t>
            </a:r>
            <a:r>
              <a:rPr sz="1200" b="1">
                <a:solidFill>
                  <a:srgbClr val="10201A"/>
                </a:solidFill>
                <a:latin typeface="Segoe UI"/>
              </a:rPr>
              <a:t>RQ1 </a:t>
            </a:r>
            <a:r>
              <a:rPr sz="1200" b="0">
                <a:solidFill>
                  <a:srgbClr val="4A5B52"/>
                </a:solidFill>
                <a:latin typeface="Segoe UI"/>
              </a:rPr>
              <a:t>What digester volume, OLR and HRT keep household food-waste digestion stable?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58A52"/>
                </a:solidFill>
                <a:latin typeface="Segoe UI"/>
              </a:rPr>
              <a:t>● </a:t>
            </a:r>
            <a:r>
              <a:rPr sz="1200" b="1">
                <a:solidFill>
                  <a:srgbClr val="10201A"/>
                </a:solidFill>
                <a:latin typeface="Segoe UI"/>
              </a:rPr>
              <a:t>RQ2 </a:t>
            </a:r>
            <a:r>
              <a:rPr sz="1200" b="0">
                <a:solidFill>
                  <a:srgbClr val="4A5B52"/>
                </a:solidFill>
                <a:latin typeface="Segoe UI"/>
              </a:rPr>
              <a:t>How much biogas, cooking time and avoided CO₂e can one unit deliver?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158A52"/>
                </a:solidFill>
                <a:latin typeface="Segoe UI"/>
              </a:rPr>
              <a:t>● </a:t>
            </a:r>
            <a:r>
              <a:rPr sz="1200" b="1">
                <a:solidFill>
                  <a:srgbClr val="10201A"/>
                </a:solidFill>
                <a:latin typeface="Segoe UI"/>
              </a:rPr>
              <a:t>RQ3 </a:t>
            </a:r>
            <a:r>
              <a:rPr sz="1200" b="0">
                <a:solidFill>
                  <a:srgbClr val="4A5B52"/>
                </a:solidFill>
                <a:latin typeface="Segoe UI"/>
              </a:rPr>
              <a:t>Can sensor feedback make the process usable for non-experts (SUS ≥ 68)?</a:t>
            </a:r>
          </a:p>
        </p:txBody>
      </p:sp>
      <p:sp>
        <p:nvSpPr>
          <p:cNvPr id="21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Sources: </a:t>
            </a:r>
            <a:r>
              <a:rPr sz="850" b="0">
                <a:solidFill>
                  <a:srgbClr val="86958D"/>
                </a:solidFill>
                <a:latin typeface="Segoe UI"/>
              </a:rPr>
              <a:t>UNEP Food Waste Index Report 2024; SIPSN KLHK 2023; Bappenas 2021 FLW study; Zhang et al. 2007, Bioresour. Technol. 98:929; Xu et al. 2018, Bioresour. Technol. 247:1047.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5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227118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03 · STATE OF THE ART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Current options trade energy, </a:t>
            </a:r>
            <a:r>
              <a:rPr sz="3200" b="1">
                <a:solidFill>
                  <a:srgbClr val="158A52"/>
                </a:solidFill>
                <a:latin typeface="Segoe UI"/>
              </a:rPr>
              <a:t>space or visibility.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03</a:t>
            </a:r>
          </a:p>
        </p:txBody>
      </p:sp>
      <p:graphicFrame>
        <p:nvGraphicFramePr>
          <p:cNvPr id="7" name="SOTA"/>
          <p:cNvGraphicFramePr>
            <a:graphicFrameLocks noGrp="1"/>
          </p:cNvGraphicFramePr>
          <p:nvPr/>
        </p:nvGraphicFramePr>
        <p:xfrm>
          <a:off x="548640" y="1783080"/>
          <a:ext cx="11064240" cy="28529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0280"/>
                <a:gridCol w="1554480"/>
                <a:gridCol w="1691640"/>
                <a:gridCol w="2011680"/>
                <a:gridCol w="1828800"/>
                <a:gridCol w="17373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Approach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Footprint / scale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Input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Energy balance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Monitoring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Main limitation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Electric food recycler (Lomi)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countertop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food scraps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consumes 0.6–1.0 kWh/cycle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app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no energy recovery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HomeBiogas 2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2.1 × 1.15 m, 2.0 m³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4 L FW + 4 L water/d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up to 2 h cooking/d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visual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outdoor, 2.4 m² footprint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Fixed-dome digester (BIRU)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masonry, outdoor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livestock manure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household cooking gas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needs manure; 25,157 units (2021)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IoT digester research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pilot / lab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mixed organics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measured, not productised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ESP32: T, pH, CH₄, H₂S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not a household device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6B40"/>
                          </a:solidFill>
                          <a:latin typeface="Segoe UI"/>
                        </a:rPr>
                        <a:t>ARUNA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6B40"/>
                          </a:solidFill>
                          <a:latin typeface="Segoe UI"/>
                        </a:rPr>
                        <a:t>0.44 × 0.44 m, 100 L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6B40"/>
                          </a:solidFill>
                          <a:latin typeface="Segoe UI"/>
                        </a:rPr>
                        <a:t>1.5 kg FW + 1.5 L water/d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6B40"/>
                          </a:solidFill>
                          <a:latin typeface="Segoe UI"/>
                        </a:rPr>
                        <a:t>≈43 min cooking/d (predicted)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6B40"/>
                          </a:solidFill>
                          <a:latin typeface="Segoe UI"/>
                        </a:rPr>
                        <a:t>NDIR CH₄, pH, T, level + interlocks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6B40"/>
                          </a:solidFill>
                          <a:latin typeface="Segoe UI"/>
                        </a:rPr>
                        <a:t>to be field-validated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</a:tr>
            </a:tbl>
          </a:graphicData>
        </a:graphic>
      </p:graphicFrame>
      <p:pic>
        <p:nvPicPr>
          <p:cNvPr id="8" name="Gap_card" descr="aura_12.10_1.2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480560"/>
            <a:ext cx="11704319" cy="1783080"/>
          </a:xfrm>
          <a:prstGeom prst="rect">
            <a:avLst/>
          </a:prstGeom>
        </p:spPr>
      </p:pic>
      <p:sp>
        <p:nvSpPr>
          <p:cNvPr id="9" name="Gap"/>
          <p:cNvSpPr txBox="1"/>
          <p:nvPr/>
        </p:nvSpPr>
        <p:spPr>
          <a:xfrm>
            <a:off x="822959" y="4919472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58A52"/>
                </a:solidFill>
                <a:latin typeface="Segoe UI"/>
              </a:rPr>
              <a:t>Research gap  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4A5B52"/>
                </a:solidFill>
                <a:latin typeface="Segoe UI"/>
              </a:rPr>
              <a:t>No household option combines food-waste input, energy recovery, indoor footprint and real-time process monitoring. Low-cost MQ-type gas sensors (300–10,000 ppm) cannot quantify biogas CH₄ (50–70 % vol); an NDIR sensor (0–100 % vol) is required.</a:t>
            </a:r>
          </a:p>
        </p:txBody>
      </p:sp>
      <p:sp>
        <p:nvSpPr>
          <p:cNvPr id="10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Sources: </a:t>
            </a:r>
            <a:r>
              <a:rPr sz="850" b="0">
                <a:solidFill>
                  <a:srgbClr val="86958D"/>
                </a:solidFill>
                <a:latin typeface="Segoe UI"/>
              </a:rPr>
              <a:t>Lomi (2024) energy use; HomeBiogas (2024) HB2 specifications; ESDM/Hivos BIRU (2021); Prasetyono et al. 2026, J. Mechatron. Electr. Power Veh. Technol. 17(1):29; Rajendran et al. 2012, Energies 5:2911; Winsen MQ-4 &amp; MH-440D datasheets.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1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4826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04 · SOLUTION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Shred, stir, digest, measure: </a:t>
            </a:r>
            <a:r>
              <a:rPr sz="3200" b="1">
                <a:solidFill>
                  <a:srgbClr val="158A52"/>
                </a:solidFill>
                <a:latin typeface="Segoe UI"/>
              </a:rPr>
              <a:t>three outputs.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04</a:t>
            </a:r>
          </a:p>
        </p:txBody>
      </p:sp>
      <p:pic>
        <p:nvPicPr>
          <p:cNvPr id="7" name="PFD_card" descr="raise_7.56_3.43_0.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" y="1389888"/>
            <a:ext cx="7552944" cy="3779285"/>
          </a:xfrm>
          <a:prstGeom prst="rect">
            <a:avLst/>
          </a:prstGeom>
        </p:spPr>
      </p:pic>
      <p:pic>
        <p:nvPicPr>
          <p:cNvPr id="8" name="PFD" descr="sci_pf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783080"/>
            <a:ext cx="6766560" cy="2992901"/>
          </a:xfrm>
          <a:prstGeom prst="rect">
            <a:avLst/>
          </a:prstGeom>
        </p:spPr>
      </p:pic>
      <p:pic>
        <p:nvPicPr>
          <p:cNvPr id="9" name="Out_0_card" descr="raise_4.35_0.62_0.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417319"/>
            <a:ext cx="4617720" cy="1207007"/>
          </a:xfrm>
          <a:prstGeom prst="rect">
            <a:avLst/>
          </a:prstGeom>
        </p:spPr>
      </p:pic>
      <p:sp>
        <p:nvSpPr>
          <p:cNvPr id="10" name="Out_0_dot"/>
          <p:cNvSpPr/>
          <p:nvPr/>
        </p:nvSpPr>
        <p:spPr>
          <a:xfrm>
            <a:off x="7772400" y="1837943"/>
            <a:ext cx="365760" cy="365760"/>
          </a:xfrm>
          <a:prstGeom prst="ellipse">
            <a:avLst/>
          </a:prstGeom>
          <a:solidFill>
            <a:srgbClr val="2D6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Out_0"/>
          <p:cNvSpPr txBox="1"/>
          <p:nvPr/>
        </p:nvSpPr>
        <p:spPr>
          <a:xfrm>
            <a:off x="8275320" y="1792224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01A"/>
                </a:solidFill>
                <a:latin typeface="Segoe UI"/>
              </a:rPr>
              <a:t>Biogas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214 L/d · 1.3 kWh/d</a:t>
            </a:r>
          </a:p>
        </p:txBody>
      </p:sp>
      <p:pic>
        <p:nvPicPr>
          <p:cNvPr id="12" name="Out_1_card" descr="raise_4.35_0.62_0.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2130551"/>
            <a:ext cx="4617720" cy="1207007"/>
          </a:xfrm>
          <a:prstGeom prst="rect">
            <a:avLst/>
          </a:prstGeom>
        </p:spPr>
      </p:pic>
      <p:sp>
        <p:nvSpPr>
          <p:cNvPr id="13" name="Out_1_dot"/>
          <p:cNvSpPr/>
          <p:nvPr/>
        </p:nvSpPr>
        <p:spPr>
          <a:xfrm>
            <a:off x="7772400" y="2551175"/>
            <a:ext cx="365760" cy="365760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Out_1"/>
          <p:cNvSpPr txBox="1"/>
          <p:nvPr/>
        </p:nvSpPr>
        <p:spPr>
          <a:xfrm>
            <a:off x="8275320" y="2505456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01A"/>
                </a:solidFill>
                <a:latin typeface="Segoe UI"/>
              </a:rPr>
              <a:t>Liquid digestate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N-rich fertilizer, dilute 1:10</a:t>
            </a:r>
          </a:p>
        </p:txBody>
      </p:sp>
      <p:pic>
        <p:nvPicPr>
          <p:cNvPr id="15" name="Out_2_card" descr="raise_4.35_0.62_0.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2843784"/>
            <a:ext cx="4617720" cy="1207007"/>
          </a:xfrm>
          <a:prstGeom prst="rect">
            <a:avLst/>
          </a:prstGeom>
        </p:spPr>
      </p:pic>
      <p:sp>
        <p:nvSpPr>
          <p:cNvPr id="16" name="Out_2_dot"/>
          <p:cNvSpPr/>
          <p:nvPr/>
        </p:nvSpPr>
        <p:spPr>
          <a:xfrm>
            <a:off x="7772400" y="3264408"/>
            <a:ext cx="365760" cy="365760"/>
          </a:xfrm>
          <a:prstGeom prst="ellipse">
            <a:avLst/>
          </a:prstGeom>
          <a:solidFill>
            <a:srgbClr val="B87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Out_2"/>
          <p:cNvSpPr txBox="1"/>
          <p:nvPr/>
        </p:nvSpPr>
        <p:spPr>
          <a:xfrm>
            <a:off x="8275320" y="3218688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0201A"/>
                </a:solidFill>
                <a:latin typeface="Segoe UI"/>
              </a:rPr>
              <a:t>Solid digestate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compost drawer</a:t>
            </a:r>
          </a:p>
        </p:txBody>
      </p:sp>
      <p:sp>
        <p:nvSpPr>
          <p:cNvPr id="18" name="SDG_0"/>
          <p:cNvSpPr/>
          <p:nvPr/>
        </p:nvSpPr>
        <p:spPr>
          <a:xfrm>
            <a:off x="7635240" y="3950208"/>
            <a:ext cx="1920240" cy="896112"/>
          </a:xfrm>
          <a:prstGeom prst="roundRect">
            <a:avLst>
              <a:gd name="adj" fmla="val 12000"/>
            </a:avLst>
          </a:prstGeom>
          <a:solidFill>
            <a:srgbClr val="C89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SDG 7.1</a:t>
            </a:r>
          </a:p>
          <a:p>
            <a:r>
              <a:rPr sz="900" b="0">
                <a:solidFill>
                  <a:srgbClr val="FFFFFF"/>
                </a:solidFill>
                <a:latin typeface="Segoe UI"/>
              </a:rPr>
              <a:t>clean cooking fuel ≈ 3.0 kg LPG-eq/month</a:t>
            </a:r>
          </a:p>
        </p:txBody>
      </p:sp>
      <p:sp>
        <p:nvSpPr>
          <p:cNvPr id="19" name="SDG_1"/>
          <p:cNvSpPr/>
          <p:nvPr/>
        </p:nvSpPr>
        <p:spPr>
          <a:xfrm>
            <a:off x="9646920" y="3950208"/>
            <a:ext cx="1920240" cy="896112"/>
          </a:xfrm>
          <a:prstGeom prst="roundRect">
            <a:avLst>
              <a:gd name="adj" fmla="val 12000"/>
            </a:avLst>
          </a:prstGeom>
          <a:solidFill>
            <a:srgbClr val="E08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SDG 11.6</a:t>
            </a:r>
          </a:p>
          <a:p>
            <a:r>
              <a:rPr sz="900" b="0">
                <a:solidFill>
                  <a:srgbClr val="FFFFFF"/>
                </a:solidFill>
                <a:latin typeface="Segoe UI"/>
              </a:rPr>
              <a:t>0.55 t/yr diverted from municipal waste</a:t>
            </a:r>
          </a:p>
        </p:txBody>
      </p:sp>
      <p:sp>
        <p:nvSpPr>
          <p:cNvPr id="20" name="SDG_2"/>
          <p:cNvSpPr/>
          <p:nvPr/>
        </p:nvSpPr>
        <p:spPr>
          <a:xfrm>
            <a:off x="7635240" y="4956048"/>
            <a:ext cx="1920240" cy="896112"/>
          </a:xfrm>
          <a:prstGeom prst="roundRect">
            <a:avLst>
              <a:gd name="adj" fmla="val 12000"/>
            </a:avLst>
          </a:prstGeom>
          <a:solidFill>
            <a:srgbClr val="A07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SDG 12.3</a:t>
            </a:r>
          </a:p>
          <a:p>
            <a:r>
              <a:rPr sz="900" b="0">
                <a:solidFill>
                  <a:srgbClr val="FFFFFF"/>
                </a:solidFill>
                <a:latin typeface="Segoe UI"/>
              </a:rPr>
              <a:t>food waste valorised at source</a:t>
            </a:r>
          </a:p>
        </p:txBody>
      </p:sp>
      <p:sp>
        <p:nvSpPr>
          <p:cNvPr id="21" name="SDG_3"/>
          <p:cNvSpPr/>
          <p:nvPr/>
        </p:nvSpPr>
        <p:spPr>
          <a:xfrm>
            <a:off x="9646920" y="4956048"/>
            <a:ext cx="1920240" cy="896112"/>
          </a:xfrm>
          <a:prstGeom prst="roundRect">
            <a:avLst>
              <a:gd name="adj" fmla="val 12000"/>
            </a:avLst>
          </a:prstGeom>
          <a:solidFill>
            <a:srgbClr val="3F7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SDG 13.2</a:t>
            </a:r>
          </a:p>
          <a:p>
            <a:r>
              <a:rPr sz="900" b="0">
                <a:solidFill>
                  <a:srgbClr val="FFFFFF"/>
                </a:solidFill>
                <a:latin typeface="Segoe UI"/>
              </a:rPr>
              <a:t>0.72 t CO₂e/yr avoided (potential)</a:t>
            </a:r>
          </a:p>
        </p:txBody>
      </p:sp>
      <p:pic>
        <p:nvPicPr>
          <p:cNvPr id="22" name="Hyp_card" descr="aura_7.40_0.85_0.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4754880"/>
            <a:ext cx="7406640" cy="1417319"/>
          </a:xfrm>
          <a:prstGeom prst="rect">
            <a:avLst/>
          </a:prstGeom>
        </p:spPr>
      </p:pic>
      <p:sp>
        <p:nvSpPr>
          <p:cNvPr id="23" name="Hyp"/>
          <p:cNvSpPr txBox="1"/>
          <p:nvPr/>
        </p:nvSpPr>
        <p:spPr>
          <a:xfrm>
            <a:off x="731520" y="5166360"/>
            <a:ext cx="6492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8741A"/>
                </a:solidFill>
                <a:latin typeface="Segoe UI"/>
              </a:rPr>
              <a:t>H1 </a:t>
            </a:r>
            <a:r>
              <a:rPr sz="1100" b="0">
                <a:solidFill>
                  <a:srgbClr val="4A5B52"/>
                </a:solidFill>
                <a:latin typeface="Segoe UI"/>
              </a:rPr>
              <a:t>At OLR ≤ 3.4 kg VS/m³·d and HRT ≈ 34 d: CH₄ ≥ 50 %, ≥ 0.30 m³ CH₄/kg VS, FOS/TAC &lt; 0.4.   </a:t>
            </a:r>
            <a:r>
              <a:rPr sz="1100" b="1">
                <a:solidFill>
                  <a:srgbClr val="B8741A"/>
                </a:solidFill>
                <a:latin typeface="Segoe UI"/>
              </a:rPr>
              <a:t>H2 </a:t>
            </a:r>
            <a:r>
              <a:rPr sz="1100" b="0">
                <a:solidFill>
                  <a:srgbClr val="4A5B52"/>
                </a:solidFill>
                <a:latin typeface="Segoe UI"/>
              </a:rPr>
              <a:t>SUS ≥ 68.</a:t>
            </a:r>
          </a:p>
        </p:txBody>
      </p:sp>
      <p:sp>
        <p:nvSpPr>
          <p:cNvPr id="24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Sources: </a:t>
            </a:r>
            <a:r>
              <a:rPr sz="850" b="0">
                <a:solidFill>
                  <a:srgbClr val="86958D"/>
                </a:solidFill>
                <a:latin typeface="Segoe UI"/>
              </a:rPr>
              <a:t>Design calculation (this work) using Zhang et al. 2007; Xu et al. 2018; IPCC 2006 Vol. 5 Ch. 3; IPCC AR5 GWP100 = 28; UN A/RES/70/1 (SDG targets).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87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77832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05 · THE PRODUCT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A 0.19 m² digester </a:t>
            </a:r>
            <a:r>
              <a:rPr sz="3200" b="1">
                <a:solidFill>
                  <a:srgbClr val="158A52"/>
                </a:solidFill>
                <a:latin typeface="Segoe UI"/>
              </a:rPr>
              <a:t>with a digital twin.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05</a:t>
            </a:r>
          </a:p>
        </p:txBody>
      </p:sp>
      <p:pic>
        <p:nvPicPr>
          <p:cNvPr id="7" name="HW_card" descr="aura_3.60_4.60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463040"/>
            <a:ext cx="3931920" cy="4846320"/>
          </a:xfrm>
          <a:prstGeom prst="rect">
            <a:avLst/>
          </a:prstGeom>
        </p:spPr>
      </p:pic>
      <p:pic>
        <p:nvPicPr>
          <p:cNvPr id="8" name="FX_FLOAT_HW" descr="hw_outer_sc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810512"/>
            <a:ext cx="2775204" cy="4160520"/>
          </a:xfrm>
          <a:prstGeom prst="rect">
            <a:avLst/>
          </a:prstGeom>
        </p:spPr>
      </p:pic>
      <p:graphicFrame>
        <p:nvGraphicFramePr>
          <p:cNvPr id="9" name="SpecHW"/>
          <p:cNvGraphicFramePr>
            <a:graphicFrameLocks noGrp="1"/>
          </p:cNvGraphicFramePr>
          <p:nvPr/>
        </p:nvGraphicFramePr>
        <p:xfrm>
          <a:off x="4069080" y="1783080"/>
          <a:ext cx="3611880" cy="292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3040"/>
                <a:gridCol w="21488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Hardware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Footprint × height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44 × 44 × 112 cm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Working volume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100 L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Nominal / peak load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1.5 / 3.0 kg FW/d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HRT / OLR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34 d / 3.4 kg VS/m³·d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Controller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ESP32-S3 (Wi-Fi, BLE)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Process sensors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T, pH, NDIR CH₄, level, mass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Safety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MQ-4 leak alarm, valve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Arch_card" descr="raise_4.11_1.81_0.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808" y="1435607"/>
            <a:ext cx="4398264" cy="2291334"/>
          </a:xfrm>
          <a:prstGeom prst="rect">
            <a:avLst/>
          </a:prstGeom>
        </p:spPr>
      </p:pic>
      <p:pic>
        <p:nvPicPr>
          <p:cNvPr id="11" name="Arch" descr="fig_architectu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1828800"/>
            <a:ext cx="3611880" cy="1504950"/>
          </a:xfrm>
          <a:prstGeom prst="rect">
            <a:avLst/>
          </a:prstGeom>
        </p:spPr>
      </p:pic>
      <p:graphicFrame>
        <p:nvGraphicFramePr>
          <p:cNvPr id="12" name="SpecSW"/>
          <p:cNvGraphicFramePr>
            <a:graphicFrameLocks noGrp="1"/>
          </p:cNvGraphicFramePr>
          <p:nvPr/>
        </p:nvGraphicFramePr>
        <p:xfrm>
          <a:off x="8001000" y="3886200"/>
          <a:ext cx="3611880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Software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Implementation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Telemetry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15-min sampling → Firebase RTDB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Interface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PWA, live at aruna-id.web.app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Guidance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interlock alerts + AI educator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Setup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BLE provisioning, offline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</a:tbl>
          </a:graphicData>
        </a:graphic>
      </p:graphicFrame>
      <p:sp>
        <p:nvSpPr>
          <p:cNvPr id="13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Sources: </a:t>
            </a:r>
            <a:r>
              <a:rPr sz="850" b="0">
                <a:solidFill>
                  <a:srgbClr val="86958D"/>
                </a:solidFill>
                <a:latin typeface="Segoe UI"/>
              </a:rPr>
              <a:t>This work (3D model &amp; live app); Espressif ESP32-S3 datasheet; Google Firebase Realtime Database documentation.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1160"/>
                                  </p:st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42" dur="2600" accel="50000" decel="50000" autoRev="1" fill="hold" repeatCount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45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1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87689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06 · THE HARDWARE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Gravity-fed layout, </a:t>
            </a:r>
            <a:r>
              <a:rPr sz="3200" b="1">
                <a:solidFill>
                  <a:srgbClr val="158A52"/>
                </a:solidFill>
                <a:latin typeface="Segoe UI"/>
              </a:rPr>
              <a:t>instrumented for process control.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06</a:t>
            </a:r>
          </a:p>
        </p:txBody>
      </p:sp>
      <p:pic>
        <p:nvPicPr>
          <p:cNvPr id="7" name="Xray" descr="hw_xray_sc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1691640"/>
            <a:ext cx="2555748" cy="4343400"/>
          </a:xfrm>
          <a:prstGeom prst="rect">
            <a:avLst/>
          </a:prstGeom>
        </p:spPr>
      </p:pic>
      <p:cxnSp>
        <p:nvCxnSpPr>
          <p:cNvPr id="8" name="Line_layar"/>
          <p:cNvCxnSpPr/>
          <p:nvPr/>
        </p:nvCxnSpPr>
        <p:spPr>
          <a:xfrm>
            <a:off x="2514600" y="1984248"/>
            <a:ext cx="908286" cy="737033"/>
          </a:xfrm>
          <a:prstGeom prst="line">
            <a:avLst/>
          </a:prstGeom>
          <a:ln w="15875">
            <a:solidFill>
              <a:srgbClr val="158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X_PULSE_Pt_layar"/>
          <p:cNvSpPr/>
          <p:nvPr/>
        </p:nvSpPr>
        <p:spPr>
          <a:xfrm>
            <a:off x="3368022" y="2666417"/>
            <a:ext cx="109728" cy="10972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b_layar"/>
          <p:cNvSpPr txBox="1"/>
          <p:nvPr/>
        </p:nvSpPr>
        <p:spPr>
          <a:xfrm>
            <a:off x="548640" y="18288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0201A"/>
                </a:solidFill>
                <a:latin typeface="Segoe UI"/>
              </a:rPr>
              <a:t>7″ panel + ESP32-S3</a:t>
            </a:r>
          </a:p>
        </p:txBody>
      </p:sp>
      <p:cxnSp>
        <p:nvCxnSpPr>
          <p:cNvPr id="11" name="Line_pencacah"/>
          <p:cNvCxnSpPr/>
          <p:nvPr/>
        </p:nvCxnSpPr>
        <p:spPr>
          <a:xfrm>
            <a:off x="2514600" y="2670048"/>
            <a:ext cx="1359801" cy="123793"/>
          </a:xfrm>
          <a:prstGeom prst="line">
            <a:avLst/>
          </a:prstGeom>
          <a:ln w="15875">
            <a:solidFill>
              <a:srgbClr val="158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X_PULSE_Pt_pencacah"/>
          <p:cNvSpPr/>
          <p:nvPr/>
        </p:nvSpPr>
        <p:spPr>
          <a:xfrm>
            <a:off x="3819537" y="2738977"/>
            <a:ext cx="109728" cy="10972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_pencacah"/>
          <p:cNvSpPr txBox="1"/>
          <p:nvPr/>
        </p:nvSpPr>
        <p:spPr>
          <a:xfrm>
            <a:off x="548640" y="25146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0201A"/>
                </a:solidFill>
                <a:latin typeface="Segoe UI"/>
              </a:rPr>
              <a:t>Twin-shaft shredder</a:t>
            </a:r>
          </a:p>
        </p:txBody>
      </p:sp>
      <p:cxnSp>
        <p:nvCxnSpPr>
          <p:cNvPr id="14" name="Line_loadcell"/>
          <p:cNvCxnSpPr/>
          <p:nvPr/>
        </p:nvCxnSpPr>
        <p:spPr>
          <a:xfrm flipV="1">
            <a:off x="2514600" y="2994149"/>
            <a:ext cx="1410490" cy="361699"/>
          </a:xfrm>
          <a:prstGeom prst="line">
            <a:avLst/>
          </a:prstGeom>
          <a:ln w="15875">
            <a:solidFill>
              <a:srgbClr val="158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X_PULSE_Pt_loadcell"/>
          <p:cNvSpPr/>
          <p:nvPr/>
        </p:nvSpPr>
        <p:spPr>
          <a:xfrm>
            <a:off x="3870226" y="2939285"/>
            <a:ext cx="109728" cy="10972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ab_loadcell"/>
          <p:cNvSpPr txBox="1"/>
          <p:nvPr/>
        </p:nvSpPr>
        <p:spPr>
          <a:xfrm>
            <a:off x="548640" y="32004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0201A"/>
                </a:solidFill>
                <a:latin typeface="Segoe UI"/>
              </a:rPr>
              <a:t>Load cell (HX711)</a:t>
            </a:r>
          </a:p>
        </p:txBody>
      </p:sp>
      <p:cxnSp>
        <p:nvCxnSpPr>
          <p:cNvPr id="17" name="Line_pengaduk"/>
          <p:cNvCxnSpPr/>
          <p:nvPr/>
        </p:nvCxnSpPr>
        <p:spPr>
          <a:xfrm flipV="1">
            <a:off x="2514600" y="3438708"/>
            <a:ext cx="1453086" cy="602940"/>
          </a:xfrm>
          <a:prstGeom prst="line">
            <a:avLst/>
          </a:prstGeom>
          <a:ln w="15875">
            <a:solidFill>
              <a:srgbClr val="158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X_PULSE_Pt_pengaduk"/>
          <p:cNvSpPr/>
          <p:nvPr/>
        </p:nvSpPr>
        <p:spPr>
          <a:xfrm>
            <a:off x="3912822" y="3383844"/>
            <a:ext cx="109728" cy="10972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ab_pengaduk"/>
          <p:cNvSpPr txBox="1"/>
          <p:nvPr/>
        </p:nvSpPr>
        <p:spPr>
          <a:xfrm>
            <a:off x="548640" y="38862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0201A"/>
                </a:solidFill>
                <a:latin typeface="Segoe UI"/>
              </a:rPr>
              <a:t>Stirrer, 5 min / 2 h</a:t>
            </a:r>
          </a:p>
        </p:txBody>
      </p:sp>
      <p:cxnSp>
        <p:nvCxnSpPr>
          <p:cNvPr id="20" name="Line_keran"/>
          <p:cNvCxnSpPr/>
          <p:nvPr/>
        </p:nvCxnSpPr>
        <p:spPr>
          <a:xfrm flipV="1">
            <a:off x="2514600" y="4275196"/>
            <a:ext cx="1243089" cy="452252"/>
          </a:xfrm>
          <a:prstGeom prst="line">
            <a:avLst/>
          </a:prstGeom>
          <a:ln w="15875">
            <a:solidFill>
              <a:srgbClr val="158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X_PULSE_Pt_keran"/>
          <p:cNvSpPr/>
          <p:nvPr/>
        </p:nvSpPr>
        <p:spPr>
          <a:xfrm>
            <a:off x="3702825" y="4220332"/>
            <a:ext cx="109728" cy="10972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ab_keran"/>
          <p:cNvSpPr txBox="1"/>
          <p:nvPr/>
        </p:nvSpPr>
        <p:spPr>
          <a:xfrm>
            <a:off x="548640" y="45720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0201A"/>
                </a:solidFill>
                <a:latin typeface="Segoe UI"/>
              </a:rPr>
              <a:t>Liquid digestate tap</a:t>
            </a:r>
          </a:p>
        </p:txBody>
      </p:sp>
      <p:cxnSp>
        <p:nvCxnSpPr>
          <p:cNvPr id="23" name="Line_kompos"/>
          <p:cNvCxnSpPr/>
          <p:nvPr/>
        </p:nvCxnSpPr>
        <p:spPr>
          <a:xfrm flipV="1">
            <a:off x="2514600" y="5147964"/>
            <a:ext cx="1096559" cy="265284"/>
          </a:xfrm>
          <a:prstGeom prst="line">
            <a:avLst/>
          </a:prstGeom>
          <a:ln w="15875">
            <a:solidFill>
              <a:srgbClr val="158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X_PULSE_Pt_kompos"/>
          <p:cNvSpPr/>
          <p:nvPr/>
        </p:nvSpPr>
        <p:spPr>
          <a:xfrm>
            <a:off x="3556295" y="5093100"/>
            <a:ext cx="109728" cy="10972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ab_kompos"/>
          <p:cNvSpPr txBox="1"/>
          <p:nvPr/>
        </p:nvSpPr>
        <p:spPr>
          <a:xfrm>
            <a:off x="548640" y="5257800"/>
            <a:ext cx="1938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10201A"/>
                </a:solidFill>
                <a:latin typeface="Segoe UI"/>
              </a:rPr>
              <a:t>Solid digestate drawer</a:t>
            </a:r>
          </a:p>
        </p:txBody>
      </p:sp>
      <p:graphicFrame>
        <p:nvGraphicFramePr>
          <p:cNvPr id="26" name="Inst"/>
          <p:cNvGraphicFramePr>
            <a:graphicFrameLocks noGrp="1"/>
          </p:cNvGraphicFramePr>
          <p:nvPr/>
        </p:nvGraphicFramePr>
        <p:xfrm>
          <a:off x="6263640" y="1783080"/>
          <a:ext cx="5349240" cy="3072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4440"/>
                <a:gridCol w="1417320"/>
                <a:gridCol w="13258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Sensor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Range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Accuracy / role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Temperature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DS18B20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−55–125 °C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±0.5 °C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CH₄ in biogas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NDIR MH-440D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0–100 % vol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T90 &lt; 30 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CH₄ leak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MQ-4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300–10,000 ppm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alarm 10 % LEL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pH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glass probe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0–14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3-pt calibration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Level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ultrasonic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0–100 % fill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≈ ±1 cm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Input mass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load cell + HX711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0–5 kg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24-bit ADC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Gas volume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diaphragm meter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L/d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reference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7" name="Int_card" descr="aura_5.85_1.00_0.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4709160"/>
            <a:ext cx="5989320" cy="1554480"/>
          </a:xfrm>
          <a:prstGeom prst="rect">
            <a:avLst/>
          </a:prstGeom>
        </p:spPr>
      </p:pic>
      <p:sp>
        <p:nvSpPr>
          <p:cNvPr id="28" name="Int"/>
          <p:cNvSpPr txBox="1"/>
          <p:nvPr/>
        </p:nvSpPr>
        <p:spPr>
          <a:xfrm>
            <a:off x="6446520" y="5102352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58A52"/>
                </a:solidFill>
                <a:latin typeface="Segoe UI"/>
              </a:rPr>
              <a:t>Safety &amp; process interlocks  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5B52"/>
                </a:solidFill>
                <a:latin typeface="Segoe UI"/>
              </a:rPr>
              <a:t>leak &gt; 5,000 ppm → close valve · pH &lt; 6.5 → pause feeding · T &lt; 30 °C → insulation alert · level &gt; 90 % → harvest prompt</a:t>
            </a:r>
          </a:p>
        </p:txBody>
      </p:sp>
      <p:sp>
        <p:nvSpPr>
          <p:cNvPr id="29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Sources: </a:t>
            </a:r>
            <a:r>
              <a:rPr sz="850" b="0">
                <a:solidFill>
                  <a:srgbClr val="86958D"/>
                </a:solidFill>
                <a:latin typeface="Segoe UI"/>
              </a:rPr>
              <a:t>Maxim/Analog Devices DS18B20 datasheet; Winsen MH-440D (NDIR, 0–100 % vol) &amp; MQ-4 (300–10,000 ppm) datasheets; CH₄ LEL 5 % vol.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65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23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5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06" dur="1100" autoRev="1" fill="hold" repeatCount="indefinite" accel="50000" decel="50000"/>
                                        <p:tgtEl>
                                          <p:spTgt spid="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08" dur="1100" autoRev="1" fill="hold" repeatCount="indefinite" accel="50000" decel="50000"/>
                                        <p:tgtEl>
                                          <p:spTgt spid="12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09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10" dur="1100" autoRev="1" fill="hold" repeatCount="indefinite" accel="50000" decel="50000"/>
                                        <p:tgtEl>
                                          <p:spTgt spid="1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12" dur="1100" autoRev="1" fill="hold" repeatCount="indefinite" accel="50000" decel="50000"/>
                                        <p:tgtEl>
                                          <p:spTgt spid="1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14" dur="1100" autoRev="1" fill="hold" repeatCount="indefinite" accel="50000" decel="50000"/>
                                        <p:tgtEl>
                                          <p:spTgt spid="21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15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16" dur="1100" autoRev="1" fill="hold" repeatCount="indefinite" accel="50000" decel="50000"/>
                                        <p:tgtEl>
                                          <p:spTgt spid="2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19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10" grpId="0" animBg="1"/>
      <p:bldP spid="13" grpId="0" animBg="1"/>
      <p:bldP spid="16" grpId="0" animBg="1"/>
      <p:bldP spid="19" grpId="0" animBg="1"/>
      <p:bldP spid="22" grpId="0" animBg="1"/>
      <p:bldP spid="25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87689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07 · THE SOFTWARE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From raw signals </a:t>
            </a:r>
            <a:r>
              <a:rPr sz="3200" b="1">
                <a:solidFill>
                  <a:srgbClr val="158A52"/>
                </a:solidFill>
                <a:latin typeface="Segoe UI"/>
              </a:rPr>
              <a:t>to plain-language decisions.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07</a:t>
            </a:r>
          </a:p>
        </p:txBody>
      </p:sp>
      <p:pic>
        <p:nvPicPr>
          <p:cNvPr id="7" name="Control_card" descr="raise_4.71_4.71_0.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" y="1389888"/>
            <a:ext cx="4946904" cy="4946904"/>
          </a:xfrm>
          <a:prstGeom prst="rect">
            <a:avLst/>
          </a:prstGeom>
        </p:spPr>
      </p:pic>
      <p:pic>
        <p:nvPicPr>
          <p:cNvPr id="8" name="Control" descr="sci_contro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783080"/>
            <a:ext cx="4160520" cy="4160520"/>
          </a:xfrm>
          <a:prstGeom prst="rect">
            <a:avLst/>
          </a:prstGeom>
        </p:spPr>
      </p:pic>
      <p:pic>
        <p:nvPicPr>
          <p:cNvPr id="9" name="Ph_0_card" descr="raise_2.04_4.30_0.2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1463040"/>
            <a:ext cx="2505456" cy="4572000"/>
          </a:xfrm>
          <a:prstGeom prst="rect">
            <a:avLst/>
          </a:prstGeom>
        </p:spPr>
      </p:pic>
      <p:pic>
        <p:nvPicPr>
          <p:cNvPr id="10" name="Ph_0" descr="scr_sci_hom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1828800"/>
            <a:ext cx="1773936" cy="3840480"/>
          </a:xfrm>
          <a:prstGeom prst="rect">
            <a:avLst/>
          </a:prstGeom>
        </p:spPr>
      </p:pic>
      <p:sp>
        <p:nvSpPr>
          <p:cNvPr id="11" name="PhL_0"/>
          <p:cNvSpPr txBox="1"/>
          <p:nvPr/>
        </p:nvSpPr>
        <p:spPr>
          <a:xfrm>
            <a:off x="5074920" y="573328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A5B52"/>
                </a:solidFill>
                <a:latin typeface="Segoe UI"/>
              </a:rPr>
              <a:t>Status</a:t>
            </a:r>
          </a:p>
        </p:txBody>
      </p:sp>
      <p:pic>
        <p:nvPicPr>
          <p:cNvPr id="12" name="Ph_1_card" descr="raise_2.04_4.30_0.2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1463040"/>
            <a:ext cx="2505456" cy="4572000"/>
          </a:xfrm>
          <a:prstGeom prst="rect">
            <a:avLst/>
          </a:prstGeom>
        </p:spPr>
      </p:pic>
      <p:pic>
        <p:nvPicPr>
          <p:cNvPr id="13" name="FX_FLOAT_Ph_1" descr="scr_sci_monito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1828800"/>
            <a:ext cx="1773936" cy="3840480"/>
          </a:xfrm>
          <a:prstGeom prst="rect">
            <a:avLst/>
          </a:prstGeom>
        </p:spPr>
      </p:pic>
      <p:sp>
        <p:nvSpPr>
          <p:cNvPr id="14" name="PhL_1"/>
          <p:cNvSpPr txBox="1"/>
          <p:nvPr/>
        </p:nvSpPr>
        <p:spPr>
          <a:xfrm>
            <a:off x="7086600" y="573328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A5B52"/>
                </a:solidFill>
                <a:latin typeface="Segoe UI"/>
              </a:rPr>
              <a:t>Trends + ideal band</a:t>
            </a:r>
          </a:p>
        </p:txBody>
      </p:sp>
      <p:pic>
        <p:nvPicPr>
          <p:cNvPr id="15" name="Ph_2_card" descr="raise_2.04_4.30_0.2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519" y="1463040"/>
            <a:ext cx="2505456" cy="4572000"/>
          </a:xfrm>
          <a:prstGeom prst="rect">
            <a:avLst/>
          </a:prstGeom>
        </p:spPr>
      </p:pic>
      <p:pic>
        <p:nvPicPr>
          <p:cNvPr id="16" name="Ph_2" descr="scr_sci_chat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8280" y="1828800"/>
            <a:ext cx="1773936" cy="3840480"/>
          </a:xfrm>
          <a:prstGeom prst="rect">
            <a:avLst/>
          </a:prstGeom>
        </p:spPr>
      </p:pic>
      <p:sp>
        <p:nvSpPr>
          <p:cNvPr id="17" name="PhL_2"/>
          <p:cNvSpPr txBox="1"/>
          <p:nvPr/>
        </p:nvSpPr>
        <p:spPr>
          <a:xfrm>
            <a:off x="9098280" y="5733288"/>
            <a:ext cx="1773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A5B52"/>
                </a:solidFill>
                <a:latin typeface="Segoe UI"/>
              </a:rPr>
              <a:t>AI educator</a:t>
            </a:r>
          </a:p>
        </p:txBody>
      </p:sp>
      <p:sp>
        <p:nvSpPr>
          <p:cNvPr id="18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Sources: </a:t>
            </a:r>
            <a:r>
              <a:rPr sz="850" b="0">
                <a:solidFill>
                  <a:srgbClr val="86958D"/>
                </a:solidFill>
                <a:latin typeface="Segoe UI"/>
              </a:rPr>
              <a:t>This work (rule-based controller, live PWA). Rule thresholds: pH 6.5–7.5 and FOS/TAC &lt; 0.4 (Chen et al. 2008, Bioresour. Technol. 99:4044; Liu et al. 2021, Appl. Sci. 11:11843).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0" presetClass="path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animMotion origin="layout" path="M 0 0 L 0 -0.014 E" pathEditMode="relative" rAng="0" ptsTypes="AA">
                                      <p:cBhvr>
                                        <p:cTn id="62" dur="2600" accel="50000" decel="50000" autoRev="1" fill="hold" repeatCount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65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11" grpId="0" animBg="1"/>
      <p:bldP spid="14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4826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08 · USE CASE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One day of operation, </a:t>
            </a:r>
            <a:r>
              <a:rPr sz="3200" b="1">
                <a:solidFill>
                  <a:srgbClr val="158A52"/>
                </a:solidFill>
                <a:latin typeface="Segoe UI"/>
              </a:rPr>
              <a:t>quantified.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08</a:t>
            </a:r>
          </a:p>
        </p:txBody>
      </p:sp>
      <p:pic>
        <p:nvPicPr>
          <p:cNvPr id="7" name="UC_0_card" descr="raise_2.30_4.60_0.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3" y="1463040"/>
            <a:ext cx="2743200" cy="4846320"/>
          </a:xfrm>
          <a:prstGeom prst="rect">
            <a:avLst/>
          </a:prstGeom>
        </p:spPr>
      </p:pic>
      <p:pic>
        <p:nvPicPr>
          <p:cNvPr id="8" name="UC_0" descr="uc_sci_9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847088"/>
            <a:ext cx="1975104" cy="2036552"/>
          </a:xfrm>
          <a:prstGeom prst="rect">
            <a:avLst/>
          </a:prstGeom>
        </p:spPr>
      </p:pic>
      <p:sp>
        <p:nvSpPr>
          <p:cNvPr id="9" name="UC_0_dot"/>
          <p:cNvSpPr/>
          <p:nvPr/>
        </p:nvSpPr>
        <p:spPr>
          <a:xfrm>
            <a:off x="658368" y="1938528"/>
            <a:ext cx="384048" cy="38404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UC_0_t"/>
          <p:cNvSpPr txBox="1"/>
          <p:nvPr/>
        </p:nvSpPr>
        <p:spPr>
          <a:xfrm>
            <a:off x="640080" y="484632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01A"/>
                </a:solidFill>
                <a:latin typeface="Segoe UI"/>
              </a:rPr>
              <a:t>Feed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1.5 kg FW + 1.5 L water; weighed &amp; shredded</a:t>
            </a:r>
          </a:p>
        </p:txBody>
      </p:sp>
      <p:pic>
        <p:nvPicPr>
          <p:cNvPr id="11" name="UC_1_card" descr="raise_2.30_4.60_0.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448" y="1463040"/>
            <a:ext cx="2743200" cy="4846320"/>
          </a:xfrm>
          <a:prstGeom prst="rect">
            <a:avLst/>
          </a:prstGeom>
        </p:spPr>
      </p:pic>
      <p:pic>
        <p:nvPicPr>
          <p:cNvPr id="12" name="UC_1" descr="uc_sci_16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0924" y="1847088"/>
            <a:ext cx="1975104" cy="2036552"/>
          </a:xfrm>
          <a:prstGeom prst="rect">
            <a:avLst/>
          </a:prstGeom>
        </p:spPr>
      </p:pic>
      <p:sp>
        <p:nvSpPr>
          <p:cNvPr id="13" name="UC_1_dot"/>
          <p:cNvSpPr/>
          <p:nvPr/>
        </p:nvSpPr>
        <p:spPr>
          <a:xfrm>
            <a:off x="2907792" y="1938528"/>
            <a:ext cx="384048" cy="38404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UC_1_t"/>
          <p:cNvSpPr txBox="1"/>
          <p:nvPr/>
        </p:nvSpPr>
        <p:spPr>
          <a:xfrm>
            <a:off x="2889504" y="484632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01A"/>
                </a:solidFill>
                <a:latin typeface="Segoe UI"/>
              </a:rPr>
              <a:t>Digest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OLR 3.4 kg VS/m³·d, stir 5 min / 2 h</a:t>
            </a:r>
          </a:p>
        </p:txBody>
      </p:sp>
      <p:pic>
        <p:nvPicPr>
          <p:cNvPr id="15" name="UC_2_card" descr="raise_2.30_4.60_0.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1463040"/>
            <a:ext cx="2743200" cy="4846320"/>
          </a:xfrm>
          <a:prstGeom prst="rect">
            <a:avLst/>
          </a:prstGeom>
        </p:spPr>
      </p:pic>
      <p:pic>
        <p:nvPicPr>
          <p:cNvPr id="16" name="UC_2" descr="uc_sci_2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0348" y="1847088"/>
            <a:ext cx="1975104" cy="2036552"/>
          </a:xfrm>
          <a:prstGeom prst="rect">
            <a:avLst/>
          </a:prstGeom>
        </p:spPr>
      </p:pic>
      <p:sp>
        <p:nvSpPr>
          <p:cNvPr id="17" name="UC_2_dot"/>
          <p:cNvSpPr/>
          <p:nvPr/>
        </p:nvSpPr>
        <p:spPr>
          <a:xfrm>
            <a:off x="5157216" y="1938528"/>
            <a:ext cx="384048" cy="38404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UC_2_t"/>
          <p:cNvSpPr txBox="1"/>
          <p:nvPr/>
        </p:nvSpPr>
        <p:spPr>
          <a:xfrm>
            <a:off x="5138927" y="484632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01A"/>
                </a:solidFill>
                <a:latin typeface="Segoe UI"/>
              </a:rPr>
              <a:t>Monitor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15-min telemetry; alert if pH &lt; 6.5</a:t>
            </a:r>
          </a:p>
        </p:txBody>
      </p:sp>
      <p:pic>
        <p:nvPicPr>
          <p:cNvPr id="19" name="UC_3_card" descr="raise_2.30_4.60_0.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296" y="1463040"/>
            <a:ext cx="2743200" cy="4846320"/>
          </a:xfrm>
          <a:prstGeom prst="rect">
            <a:avLst/>
          </a:prstGeom>
        </p:spPr>
      </p:pic>
      <p:pic>
        <p:nvPicPr>
          <p:cNvPr id="20" name="UC_3" descr="uc_sci_33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9771" y="1847088"/>
            <a:ext cx="1975104" cy="2036552"/>
          </a:xfrm>
          <a:prstGeom prst="rect">
            <a:avLst/>
          </a:prstGeom>
        </p:spPr>
      </p:pic>
      <p:sp>
        <p:nvSpPr>
          <p:cNvPr id="21" name="UC_3_dot"/>
          <p:cNvSpPr/>
          <p:nvPr/>
        </p:nvSpPr>
        <p:spPr>
          <a:xfrm>
            <a:off x="7406640" y="1938528"/>
            <a:ext cx="384048" cy="38404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UC_3_t"/>
          <p:cNvSpPr txBox="1"/>
          <p:nvPr/>
        </p:nvSpPr>
        <p:spPr>
          <a:xfrm>
            <a:off x="7388352" y="484632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01A"/>
                </a:solidFill>
                <a:latin typeface="Segoe UI"/>
              </a:rPr>
              <a:t>Fertilize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liquid digestate diluted 1:10</a:t>
            </a:r>
          </a:p>
        </p:txBody>
      </p:sp>
      <p:pic>
        <p:nvPicPr>
          <p:cNvPr id="23" name="UC_4_card" descr="raise_2.30_4.60_0.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463040"/>
            <a:ext cx="2743200" cy="4846320"/>
          </a:xfrm>
          <a:prstGeom prst="rect">
            <a:avLst/>
          </a:prstGeom>
        </p:spPr>
      </p:pic>
      <p:pic>
        <p:nvPicPr>
          <p:cNvPr id="24" name="UC_4" descr="uc_sci_43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9196" y="1847088"/>
            <a:ext cx="1975104" cy="2036552"/>
          </a:xfrm>
          <a:prstGeom prst="rect">
            <a:avLst/>
          </a:prstGeom>
        </p:spPr>
      </p:pic>
      <p:sp>
        <p:nvSpPr>
          <p:cNvPr id="25" name="UC_4_dot"/>
          <p:cNvSpPr/>
          <p:nvPr/>
        </p:nvSpPr>
        <p:spPr>
          <a:xfrm>
            <a:off x="9656063" y="1938528"/>
            <a:ext cx="384048" cy="38404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6" name="UC_4_t"/>
          <p:cNvSpPr txBox="1"/>
          <p:nvPr/>
        </p:nvSpPr>
        <p:spPr>
          <a:xfrm>
            <a:off x="9637776" y="4846320"/>
            <a:ext cx="1920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01A"/>
                </a:solidFill>
                <a:latin typeface="Segoe UI"/>
              </a:rPr>
              <a:t>Cook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5B52"/>
                </a:solidFill>
                <a:latin typeface="Segoe UI"/>
              </a:rPr>
              <a:t>214 L biogas ≈ 43 min at 0.30 m³/h</a:t>
            </a:r>
          </a:p>
        </p:txBody>
      </p:sp>
      <p:sp>
        <p:nvSpPr>
          <p:cNvPr id="27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Sources: </a:t>
            </a:r>
            <a:r>
              <a:rPr sz="850" b="0">
                <a:solidFill>
                  <a:srgbClr val="86958D"/>
                </a:solidFill>
                <a:latin typeface="Segoe UI"/>
              </a:rPr>
              <a:t>Design calculation (this work); stove demand 0.2–0.45 m³/h (SSWM/Akvopedia, Biogas combustion, 2019).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65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7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5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5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5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5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21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5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99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1" grpId="0" animBg="1"/>
      <p:bldP spid="22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217261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09 · RESEARCH METHOD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R&amp;D (4D model) with </a:t>
            </a:r>
            <a:r>
              <a:rPr sz="3200" b="1">
                <a:solidFill>
                  <a:srgbClr val="158A52"/>
                </a:solidFill>
                <a:latin typeface="Segoe UI"/>
              </a:rPr>
              <a:t>quantitative exit criteria.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09</a:t>
            </a:r>
          </a:p>
        </p:txBody>
      </p:sp>
      <p:pic>
        <p:nvPicPr>
          <p:cNvPr id="7" name="M4D_card" descr="raise_6.46_2.15_0.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" y="1389888"/>
            <a:ext cx="6547104" cy="2610611"/>
          </a:xfrm>
          <a:prstGeom prst="rect">
            <a:avLst/>
          </a:prstGeom>
        </p:spPr>
      </p:pic>
      <p:pic>
        <p:nvPicPr>
          <p:cNvPr id="8" name="M4D" descr="fig_method_4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783080"/>
            <a:ext cx="5760720" cy="1824228"/>
          </a:xfrm>
          <a:prstGeom prst="rect">
            <a:avLst/>
          </a:prstGeom>
        </p:spPr>
      </p:pic>
      <p:pic>
        <p:nvPicPr>
          <p:cNvPr id="9" name="Eq_card" descr="aura_5.55_2.85_0.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1463040"/>
            <a:ext cx="5715000" cy="3246120"/>
          </a:xfrm>
          <a:prstGeom prst="rect">
            <a:avLst/>
          </a:prstGeom>
        </p:spPr>
      </p:pic>
      <p:sp>
        <p:nvSpPr>
          <p:cNvPr id="10" name="Eq"/>
          <p:cNvSpPr txBox="1"/>
          <p:nvPr/>
        </p:nvSpPr>
        <p:spPr>
          <a:xfrm>
            <a:off x="6720840" y="1901952"/>
            <a:ext cx="47548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A6A"/>
                </a:solidFill>
                <a:latin typeface="Segoe UI"/>
              </a:rPr>
              <a:t>Mass balance</a:t>
            </a:r>
          </a:p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201A"/>
                </a:solidFill>
                <a:latin typeface="Cambria Math"/>
              </a:rPr>
              <a:t>OLR = F·TS·(VS/TS) / V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w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      HRT = V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w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 / Q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A6A"/>
                </a:solidFill>
                <a:latin typeface="Segoe UI"/>
              </a:rPr>
              <a:t>Kinetics (Gompertz)</a:t>
            </a:r>
          </a:p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201A"/>
                </a:solidFill>
                <a:latin typeface="Cambria Math"/>
              </a:rPr>
              <a:t>M(t) = P·exp{−exp[(R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m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·e/P)(λ − t) + 1]}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A6A"/>
                </a:solidFill>
                <a:latin typeface="Segoe UI"/>
              </a:rPr>
              <a:t>Theoretical CH₄ (Buswell)</a:t>
            </a:r>
          </a:p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201A"/>
                </a:solidFill>
                <a:latin typeface="Cambria Math"/>
              </a:rPr>
              <a:t>C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c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H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h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O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o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N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n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 + H₂O → CH₄ + CO₂ + NH₃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A6A"/>
                </a:solidFill>
                <a:latin typeface="Segoe UI"/>
              </a:rPr>
              <a:t>Energy &amp; cooking</a:t>
            </a:r>
          </a:p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201A"/>
                </a:solidFill>
                <a:latin typeface="Cambria Math"/>
              </a:rPr>
              <a:t>E = V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CH4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 · 35.8 MJ/m³ ;  t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cook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 = V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biogas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 / q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stove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0E7A6A"/>
                </a:solidFill>
                <a:latin typeface="Segoe UI"/>
              </a:rPr>
              <a:t>Avoided landfill CH₄ (IPCC)</a:t>
            </a:r>
          </a:p>
          <a:p>
            <a:pPr algn="l">
              <a:lnSpc>
                <a:spcPct val="100000"/>
              </a:lnSpc>
            </a:pPr>
            <a:r>
              <a:rPr sz="1450" b="0">
                <a:solidFill>
                  <a:srgbClr val="10201A"/>
                </a:solidFill>
                <a:latin typeface="Cambria Math"/>
              </a:rPr>
              <a:t>W · DOC · DOC</a:t>
            </a:r>
            <a:r>
              <a:rPr sz="1450" b="0" baseline="-25000">
                <a:solidFill>
                  <a:srgbClr val="10201A"/>
                </a:solidFill>
                <a:latin typeface="Cambria Math"/>
              </a:rPr>
              <a:t>f</a:t>
            </a:r>
            <a:r>
              <a:rPr sz="1450" b="0">
                <a:solidFill>
                  <a:srgbClr val="10201A"/>
                </a:solidFill>
                <a:latin typeface="Cambria Math"/>
              </a:rPr>
              <a:t> · MCF · F · 16/12 · (1 − OX)</a:t>
            </a:r>
          </a:p>
        </p:txBody>
      </p:sp>
      <p:graphicFrame>
        <p:nvGraphicFramePr>
          <p:cNvPr id="11" name="Design"/>
          <p:cNvGraphicFramePr>
            <a:graphicFrameLocks noGrp="1"/>
          </p:cNvGraphicFramePr>
          <p:nvPr/>
        </p:nvGraphicFramePr>
        <p:xfrm>
          <a:off x="548640" y="4553712"/>
          <a:ext cx="7040880" cy="150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7320"/>
                <a:gridCol w="2377440"/>
                <a:gridCol w="1783080"/>
                <a:gridCol w="146304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Experiment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Design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Standard / method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BMP assay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ISR ≥ 2, 37 °C, triplicate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VDI 4630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P, Rm, 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Semi-continuous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OLR 2.0 / 3.4 / 4.5 × 3 reps, 2 HRT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APHA 2540 G; FOS/TAC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yield, stability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Field 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[n] households × 30 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telemetry + logbook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CH₄ %, L/d, kg/d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Usability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post-test questionnaire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SUS (Brooke 1996)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score 0–100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</a:tbl>
          </a:graphicData>
        </a:graphic>
      </p:graphicFrame>
      <p:pic>
        <p:nvPicPr>
          <p:cNvPr id="12" name="Stat_card" descr="raise_4.15_1.58_0.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4233672"/>
            <a:ext cx="4434840" cy="2084832"/>
          </a:xfrm>
          <a:prstGeom prst="rect">
            <a:avLst/>
          </a:prstGeom>
        </p:spPr>
      </p:pic>
      <p:sp>
        <p:nvSpPr>
          <p:cNvPr id="13" name="Stats"/>
          <p:cNvSpPr txBox="1"/>
          <p:nvPr/>
        </p:nvSpPr>
        <p:spPr>
          <a:xfrm>
            <a:off x="7973568" y="4626864"/>
            <a:ext cx="3566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58A52"/>
                </a:solidFill>
                <a:latin typeface="Segoe UI"/>
              </a:rPr>
              <a:t>● </a:t>
            </a:r>
            <a:r>
              <a:rPr sz="1100" b="1">
                <a:solidFill>
                  <a:srgbClr val="10201A"/>
                </a:solidFill>
                <a:latin typeface="Segoe UI"/>
              </a:rPr>
              <a:t>Kinetics: </a:t>
            </a:r>
            <a:r>
              <a:rPr sz="1100" b="0">
                <a:solidFill>
                  <a:srgbClr val="4A5B52"/>
                </a:solidFill>
                <a:latin typeface="Segoe UI"/>
              </a:rPr>
              <a:t>non-linear least squares, R², RMSE</a:t>
            </a:r>
          </a:p>
          <a:p>
            <a:pPr algn="l">
              <a:lnSpc>
                <a:spcPct val="108000"/>
              </a:lnSpc>
            </a:pPr>
            <a:r>
              <a:rPr sz="900" b="0">
                <a:solidFill>
                  <a:srgbClr val="158A52"/>
                </a:solidFill>
                <a:latin typeface="Segoe UI"/>
              </a:rPr>
              <a:t>● </a:t>
            </a:r>
            <a:r>
              <a:rPr sz="1100" b="1">
                <a:solidFill>
                  <a:srgbClr val="10201A"/>
                </a:solidFill>
                <a:latin typeface="Segoe UI"/>
              </a:rPr>
              <a:t>Comparison: </a:t>
            </a:r>
            <a:r>
              <a:rPr sz="1100" b="0">
                <a:solidFill>
                  <a:srgbClr val="4A5B52"/>
                </a:solidFill>
                <a:latin typeface="Segoe UI"/>
              </a:rPr>
              <a:t>one-way ANOVA + Tukey, α = 0.05</a:t>
            </a:r>
          </a:p>
          <a:p>
            <a:pPr algn="l">
              <a:lnSpc>
                <a:spcPct val="108000"/>
              </a:lnSpc>
            </a:pPr>
            <a:r>
              <a:rPr sz="900" b="0">
                <a:solidFill>
                  <a:srgbClr val="158A52"/>
                </a:solidFill>
                <a:latin typeface="Segoe UI"/>
              </a:rPr>
              <a:t>● </a:t>
            </a:r>
            <a:r>
              <a:rPr sz="1100" b="1">
                <a:solidFill>
                  <a:srgbClr val="10201A"/>
                </a:solidFill>
                <a:latin typeface="Segoe UI"/>
              </a:rPr>
              <a:t>Biodegradability: </a:t>
            </a:r>
            <a:r>
              <a:rPr sz="1100" b="0">
                <a:solidFill>
                  <a:srgbClr val="4A5B52"/>
                </a:solidFill>
                <a:latin typeface="Segoe UI"/>
              </a:rPr>
              <a:t>BMP(exp) / BMP(theoretical)</a:t>
            </a:r>
          </a:p>
        </p:txBody>
      </p:sp>
      <p:sp>
        <p:nvSpPr>
          <p:cNvPr id="14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Sources: </a:t>
            </a:r>
            <a:r>
              <a:rPr sz="850" b="0">
                <a:solidFill>
                  <a:srgbClr val="86958D"/>
                </a:solidFill>
                <a:latin typeface="Segoe UI"/>
              </a:rPr>
              <a:t>Thiagarajan et al. 1974; Buswell &amp; Mueller 1952, Ind. Eng. Chem. 44:550; Zwietering et al. 1990, Appl. Environ. Microbiol. 56:1875; VDI 4630 (2016); APHA 2540 (2017); Brooke 1996.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47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10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975469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10 · FIELD TESTING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Measurement plan with </a:t>
            </a:r>
            <a:r>
              <a:rPr sz="3200" b="1">
                <a:solidFill>
                  <a:srgbClr val="158A52"/>
                </a:solidFill>
                <a:latin typeface="Segoe UI"/>
              </a:rPr>
              <a:t>acceptance criteria.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10</a:t>
            </a:r>
          </a:p>
        </p:txBody>
      </p:sp>
      <p:sp>
        <p:nvSpPr>
          <p:cNvPr id="7" name="Tag_Ilustrasi"/>
          <p:cNvSpPr/>
          <p:nvPr/>
        </p:nvSpPr>
        <p:spPr>
          <a:xfrm>
            <a:off x="548640" y="1481328"/>
            <a:ext cx="3911071" cy="329184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 w="9525">
            <a:solidFill>
              <a:srgbClr val="FBF0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B8741A"/>
                </a:solidFill>
                <a:latin typeface="Segoe UI"/>
              </a:rPr>
              <a:t>ILLUSTRATIVE DATA · replace with field results</a:t>
            </a:r>
          </a:p>
        </p:txBody>
      </p:sp>
      <p:graphicFrame>
        <p:nvGraphicFramePr>
          <p:cNvPr id="8" name="Plan"/>
          <p:cNvGraphicFramePr>
            <a:graphicFrameLocks noGrp="1"/>
          </p:cNvGraphicFramePr>
          <p:nvPr/>
        </p:nvGraphicFramePr>
        <p:xfrm>
          <a:off x="548640" y="1938528"/>
          <a:ext cx="7498080" cy="38679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7320"/>
                <a:gridCol w="1828800"/>
                <a:gridCol w="1143000"/>
                <a:gridCol w="1463040"/>
                <a:gridCol w="164592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Instrument / method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Frequency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Acceptance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Basis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Temperature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DS18B20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15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30–38 °C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Weiland (2010)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pH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calibrated probe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15 min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6.8–7.5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Chen et al. (2008)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FOS/TAC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two-point titration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weekly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&lt; 0.4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Liu et al. (2021)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CH₄ content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NDIR + [ref. analyser]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continuous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≥ 50 % vol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Xu et al. (2018)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Biogas volume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diaphragm gas meter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daily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≥ 171 L/d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this work (−20 %)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TS / VS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APHA 2540 G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weekly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VS removal ≥ 70 %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Mata-Alvarez (2000)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Digestate N, P, 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lab analysis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end of cycle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[standard]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national fertilizer standard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Usability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SUS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end of test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≥ 68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0201A"/>
                          </a:solidFill>
                          <a:latin typeface="Segoe UI"/>
                        </a:rPr>
                        <a:t>Bangor et al. (2009)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</a:tbl>
          </a:graphicData>
        </a:graphic>
      </p:graphicFrame>
      <p:pic>
        <p:nvPicPr>
          <p:cNvPr id="9" name="FT_card" descr="aura_3.65_4.25_0.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1618488"/>
            <a:ext cx="3977639" cy="4526280"/>
          </a:xfrm>
          <a:prstGeom prst="rect">
            <a:avLst/>
          </a:prstGeom>
        </p:spPr>
      </p:pic>
      <p:pic>
        <p:nvPicPr>
          <p:cNvPr id="10" name="FT_img" descr="ft_sc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2029968"/>
            <a:ext cx="3154680" cy="3198495"/>
          </a:xfrm>
          <a:prstGeom prst="rect">
            <a:avLst/>
          </a:prstGeom>
        </p:spPr>
      </p:pic>
      <p:sp>
        <p:nvSpPr>
          <p:cNvPr id="11" name="FT_note"/>
          <p:cNvSpPr txBox="1"/>
          <p:nvPr/>
        </p:nvSpPr>
        <p:spPr>
          <a:xfrm>
            <a:off x="8321040" y="58338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86958D"/>
                </a:solidFill>
                <a:latin typeface="Segoe UI"/>
              </a:rPr>
              <a:t>Rendered scenario; replace with field photos.</a:t>
            </a:r>
          </a:p>
        </p:txBody>
      </p:sp>
      <p:sp>
        <p:nvSpPr>
          <p:cNvPr id="12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Sources: </a:t>
            </a:r>
            <a:r>
              <a:rPr sz="850" b="0">
                <a:solidFill>
                  <a:srgbClr val="86958D"/>
                </a:solidFill>
                <a:latin typeface="Segoe UI"/>
              </a:rPr>
              <a:t>Weiland 2010; Chen et al. 2008; Liu et al. 2021, Appl. Sci. 11(24):11843; Xu et al. 2018; Mata-Alvarez et al. 2000, Bioresour. Technol. 74:3; APHA 2540 (2017); Bangor et al. 2009, J. Usability Stud. 4:114.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9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7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2566903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11 · RESULT &amp; DISCUSSION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Design predictions </a:t>
            </a:r>
            <a:r>
              <a:rPr sz="3200" b="1">
                <a:solidFill>
                  <a:srgbClr val="158A52"/>
                </a:solidFill>
                <a:latin typeface="Segoe UI"/>
              </a:rPr>
              <a:t>against the literature.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11</a:t>
            </a:r>
          </a:p>
        </p:txBody>
      </p:sp>
      <p:sp>
        <p:nvSpPr>
          <p:cNvPr id="7" name="Tag_Pred"/>
          <p:cNvSpPr/>
          <p:nvPr/>
        </p:nvSpPr>
        <p:spPr>
          <a:xfrm>
            <a:off x="548640" y="1481328"/>
            <a:ext cx="4798222" cy="329184"/>
          </a:xfrm>
          <a:prstGeom prst="roundRect">
            <a:avLst>
              <a:gd name="adj" fmla="val 50000"/>
            </a:avLst>
          </a:prstGeom>
          <a:solidFill>
            <a:srgbClr val="FBF0DF"/>
          </a:solidFill>
          <a:ln w="9525">
            <a:solidFill>
              <a:srgbClr val="FBF0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00" b="1">
                <a:solidFill>
                  <a:srgbClr val="B8741A"/>
                </a:solidFill>
                <a:latin typeface="Segoe UI"/>
              </a:rPr>
              <a:t>PREDICTED FROM DESIGN CALCULATION · measured data pending</a:t>
            </a:r>
          </a:p>
        </p:txBody>
      </p:sp>
      <p:graphicFrame>
        <p:nvGraphicFramePr>
          <p:cNvPr id="8" name="Res"/>
          <p:cNvGraphicFramePr>
            <a:graphicFrameLocks noGrp="1"/>
          </p:cNvGraphicFramePr>
          <p:nvPr/>
        </p:nvGraphicFramePr>
        <p:xfrm>
          <a:off x="548640" y="1938528"/>
          <a:ext cx="4937760" cy="292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240"/>
                <a:gridCol w="1051560"/>
                <a:gridCol w="96012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Household of 4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Nominal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Peak</a:t>
                      </a:r>
                    </a:p>
                  </a:txBody>
                  <a:tcPr marL="54864" marR="54864" marT="18288" marB="18288" anchor="ctr">
                    <a:solidFill>
                      <a:srgbClr val="0F6B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Input (kg FW/d)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0.58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B40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3.0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OLR (kg VS/m³·d)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1.3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B40"/>
                          </a:solidFill>
                          <a:latin typeface="Segoe UI"/>
                        </a:rPr>
                        <a:t>3.4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6.8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HRT (d)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88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B40"/>
                          </a:solidFill>
                          <a:latin typeface="Segoe UI"/>
                        </a:rPr>
                        <a:t>34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Biogas (L/d)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83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B40"/>
                          </a:solidFill>
                          <a:latin typeface="Segoe UI"/>
                        </a:rPr>
                        <a:t>214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428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Cooking (min/d)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B40"/>
                          </a:solidFill>
                          <a:latin typeface="Segoe UI"/>
                        </a:rPr>
                        <a:t>43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LPG-eq (kg/month)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1.2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B40"/>
                          </a:solidFill>
                          <a:latin typeface="Segoe UI"/>
                        </a:rPr>
                        <a:t>3.0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6.0</a:t>
                      </a:r>
                    </a:p>
                  </a:txBody>
                  <a:tcPr marL="54864" marR="54864" marT="18288" marB="18288" anchor="ctr">
                    <a:solidFill>
                      <a:srgbClr val="F4FA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Avoided (t CO₂e/yr)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0.28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F6B40"/>
                          </a:solidFill>
                          <a:latin typeface="Segoe UI"/>
                        </a:rPr>
                        <a:t>0.72</a:t>
                      </a:r>
                    </a:p>
                  </a:txBody>
                  <a:tcPr marL="54864" marR="54864" marT="18288" marB="18288" anchor="ctr">
                    <a:solidFill>
                      <a:srgbClr val="E3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0201A"/>
                          </a:solidFill>
                          <a:latin typeface="Segoe UI"/>
                        </a:rPr>
                        <a:t>1.44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Gomp_card" descr="raise_6.46_3.70_0.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545336"/>
            <a:ext cx="6547104" cy="4026788"/>
          </a:xfrm>
          <a:prstGeom prst="rect">
            <a:avLst/>
          </a:prstGeom>
        </p:spPr>
      </p:pic>
      <p:pic>
        <p:nvPicPr>
          <p:cNvPr id="10" name="Gomp" descr="sci_gompertz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1938528"/>
            <a:ext cx="5760720" cy="3240404"/>
          </a:xfrm>
          <a:prstGeom prst="rect">
            <a:avLst/>
          </a:prstGeom>
        </p:spPr>
      </p:pic>
      <p:sp>
        <p:nvSpPr>
          <p:cNvPr id="11" name="Disc"/>
          <p:cNvSpPr txBox="1"/>
          <p:nvPr/>
        </p:nvSpPr>
        <p:spPr>
          <a:xfrm>
            <a:off x="548640" y="4983480"/>
            <a:ext cx="110642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158A52"/>
                </a:solidFill>
                <a:latin typeface="Segoe UI"/>
              </a:rPr>
              <a:t>● </a:t>
            </a:r>
            <a:r>
              <a:rPr sz="1150" b="1">
                <a:solidFill>
                  <a:srgbClr val="10201A"/>
                </a:solidFill>
                <a:latin typeface="Segoe UI"/>
              </a:rPr>
              <a:t>Biodegradability ≈ 61 %: </a:t>
            </a:r>
            <a:r>
              <a:rPr sz="1150" b="0">
                <a:solidFill>
                  <a:srgbClr val="4A5B52"/>
                </a:solidFill>
                <a:latin typeface="Segoe UI"/>
              </a:rPr>
              <a:t>BMP 390 vs Buswell 643 mL CH₄/g VS, within reported food-waste range (Zhang et al., 2007).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158A52"/>
                </a:solidFill>
                <a:latin typeface="Segoe UI"/>
              </a:rPr>
              <a:t>● </a:t>
            </a:r>
            <a:r>
              <a:rPr sz="1150" b="1">
                <a:solidFill>
                  <a:srgbClr val="10201A"/>
                </a:solidFill>
                <a:latin typeface="Segoe UI"/>
              </a:rPr>
              <a:t>Stability: </a:t>
            </a:r>
            <a:r>
              <a:rPr sz="1150" b="0">
                <a:solidFill>
                  <a:srgbClr val="4A5B52"/>
                </a:solidFill>
                <a:latin typeface="Segoe UI"/>
              </a:rPr>
              <a:t>nominal OLR 3.4 is within stable ranges; peak OLR 6.8 at HRT 17 d risks VFA accumulation → pH interlock (Chen et al., 2008).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158A52"/>
                </a:solidFill>
                <a:latin typeface="Segoe UI"/>
              </a:rPr>
              <a:t>● </a:t>
            </a:r>
            <a:r>
              <a:rPr sz="1150" b="1">
                <a:solidFill>
                  <a:srgbClr val="10201A"/>
                </a:solidFill>
                <a:latin typeface="Segoe UI"/>
              </a:rPr>
              <a:t>Scale: </a:t>
            </a:r>
            <a:r>
              <a:rPr sz="1150" b="0">
                <a:solidFill>
                  <a:srgbClr val="4A5B52"/>
                </a:solidFill>
                <a:latin typeface="Segoe UI"/>
              </a:rPr>
              <a:t>a household of 4 yields ≈ 17 min/d; nominal load fits extended families or small eateries.</a:t>
            </a:r>
          </a:p>
        </p:txBody>
      </p:sp>
      <p:sp>
        <p:nvSpPr>
          <p:cNvPr id="12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Sources: </a:t>
            </a:r>
            <a:r>
              <a:rPr sz="850" b="0">
                <a:solidFill>
                  <a:srgbClr val="86958D"/>
                </a:solidFill>
                <a:latin typeface="Segoe UI"/>
              </a:rPr>
              <a:t>Design calculation (this work); Gompertz parameters from literature ranges, to be fitted (Zwietering et al. 1990); Zhang et al. 2007; Chen et al. 2008; UNEP 2024 (53 kg/cap/yr).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9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7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246833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12 · FUTURE DEVELOPMENT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From prototype </a:t>
            </a:r>
            <a:r>
              <a:rPr sz="3200" b="1">
                <a:solidFill>
                  <a:srgbClr val="158A52"/>
                </a:solidFill>
                <a:latin typeface="Segoe UI"/>
              </a:rPr>
              <a:t>to verified impact.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12</a:t>
            </a:r>
          </a:p>
        </p:txBody>
      </p:sp>
      <p:pic>
        <p:nvPicPr>
          <p:cNvPr id="7" name="Sens_card" descr="raise_5.76_3.13_0.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" y="1389888"/>
            <a:ext cx="5907024" cy="3506724"/>
          </a:xfrm>
          <a:prstGeom prst="rect">
            <a:avLst/>
          </a:prstGeom>
        </p:spPr>
      </p:pic>
      <p:pic>
        <p:nvPicPr>
          <p:cNvPr id="8" name="Sens" descr="sci_sensitiv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783080"/>
            <a:ext cx="5120640" cy="2720339"/>
          </a:xfrm>
          <a:prstGeom prst="rect">
            <a:avLst/>
          </a:prstGeom>
        </p:spPr>
      </p:pic>
      <p:pic>
        <p:nvPicPr>
          <p:cNvPr id="9" name="Road_0_card" descr="aura_6.05_1.32_0.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1463040"/>
            <a:ext cx="6172200" cy="1847088"/>
          </a:xfrm>
          <a:prstGeom prst="rect">
            <a:avLst/>
          </a:prstGeom>
        </p:spPr>
      </p:pic>
      <p:sp>
        <p:nvSpPr>
          <p:cNvPr id="10" name="FX_PULSE_Road_0"/>
          <p:cNvSpPr/>
          <p:nvPr/>
        </p:nvSpPr>
        <p:spPr>
          <a:xfrm>
            <a:off x="6236208" y="1947672"/>
            <a:ext cx="420624" cy="420624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Road_0"/>
          <p:cNvSpPr txBox="1"/>
          <p:nvPr/>
        </p:nvSpPr>
        <p:spPr>
          <a:xfrm>
            <a:off x="6812280" y="1874519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58A52"/>
                </a:solidFill>
                <a:latin typeface="Segoe UI"/>
              </a:rPr>
              <a:t>0–6 months  ·  </a:t>
            </a:r>
            <a:r>
              <a:rPr sz="1500" b="1">
                <a:solidFill>
                  <a:srgbClr val="10201A"/>
                </a:solidFill>
                <a:latin typeface="Segoe UI"/>
              </a:rPr>
              <a:t>Validate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58A52"/>
                </a:solidFill>
                <a:latin typeface="Segoe UI"/>
              </a:rPr>
              <a:t>● </a:t>
            </a:r>
            <a:r>
              <a:rPr sz="1150" b="0">
                <a:solidFill>
                  <a:srgbClr val="4A5B52"/>
                </a:solidFill>
                <a:latin typeface="Segoe UI"/>
              </a:rPr>
              <a:t>BMP + semi-continuous tests; fit P, Rm, λ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58A52"/>
                </a:solidFill>
                <a:latin typeface="Segoe UI"/>
              </a:rPr>
              <a:t>● </a:t>
            </a:r>
            <a:r>
              <a:rPr sz="1150" b="0">
                <a:solidFill>
                  <a:srgbClr val="4A5B52"/>
                </a:solidFill>
                <a:latin typeface="Segoe UI"/>
              </a:rPr>
              <a:t>calibrate NDIR vs gas analyser</a:t>
            </a:r>
          </a:p>
        </p:txBody>
      </p:sp>
      <p:pic>
        <p:nvPicPr>
          <p:cNvPr id="12" name="Road_1_card" descr="raise_6.05_1.32_0.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2834640"/>
            <a:ext cx="6172200" cy="1847088"/>
          </a:xfrm>
          <a:prstGeom prst="rect">
            <a:avLst/>
          </a:prstGeom>
        </p:spPr>
      </p:pic>
      <p:sp>
        <p:nvSpPr>
          <p:cNvPr id="13" name="Road_1_dot"/>
          <p:cNvSpPr/>
          <p:nvPr/>
        </p:nvSpPr>
        <p:spPr>
          <a:xfrm>
            <a:off x="6236208" y="3319272"/>
            <a:ext cx="420624" cy="420624"/>
          </a:xfrm>
          <a:prstGeom prst="ellipse">
            <a:avLst/>
          </a:prstGeom>
          <a:solidFill>
            <a:srgbClr val="0E7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Road_1"/>
          <p:cNvSpPr txBox="1"/>
          <p:nvPr/>
        </p:nvSpPr>
        <p:spPr>
          <a:xfrm>
            <a:off x="6812280" y="324612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E7A6A"/>
                </a:solidFill>
                <a:latin typeface="Segoe UI"/>
              </a:rPr>
              <a:t>6–12 months  ·  </a:t>
            </a:r>
            <a:r>
              <a:rPr sz="1500" b="1">
                <a:solidFill>
                  <a:srgbClr val="10201A"/>
                </a:solidFill>
                <a:latin typeface="Segoe UI"/>
              </a:rPr>
              <a:t>Optimise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0E7A6A"/>
                </a:solidFill>
                <a:latin typeface="Segoe UI"/>
              </a:rPr>
              <a:t>● </a:t>
            </a:r>
            <a:r>
              <a:rPr sz="1150" b="0">
                <a:solidFill>
                  <a:srgbClr val="4A5B52"/>
                </a:solidFill>
                <a:latin typeface="Segoe UI"/>
              </a:rPr>
              <a:t>co-digestion to C/N 20–30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0E7A6A"/>
                </a:solidFill>
                <a:latin typeface="Segoe UI"/>
              </a:rPr>
              <a:t>● </a:t>
            </a:r>
            <a:r>
              <a:rPr sz="1150" b="0">
                <a:solidFill>
                  <a:srgbClr val="4A5B52"/>
                </a:solidFill>
                <a:latin typeface="Segoe UI"/>
              </a:rPr>
              <a:t>H₂S scrubber; insulation for T &lt; 25 °C</a:t>
            </a:r>
          </a:p>
        </p:txBody>
      </p:sp>
      <p:pic>
        <p:nvPicPr>
          <p:cNvPr id="15" name="Road_2_card" descr="raise_6.05_1.32_0.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4206240"/>
            <a:ext cx="6172200" cy="1847088"/>
          </a:xfrm>
          <a:prstGeom prst="rect">
            <a:avLst/>
          </a:prstGeom>
        </p:spPr>
      </p:pic>
      <p:sp>
        <p:nvSpPr>
          <p:cNvPr id="16" name="Road_2_dot"/>
          <p:cNvSpPr/>
          <p:nvPr/>
        </p:nvSpPr>
        <p:spPr>
          <a:xfrm>
            <a:off x="6236208" y="4690872"/>
            <a:ext cx="420624" cy="420624"/>
          </a:xfrm>
          <a:prstGeom prst="ellipse">
            <a:avLst/>
          </a:prstGeom>
          <a:solidFill>
            <a:srgbClr val="0F6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Road_2"/>
          <p:cNvSpPr txBox="1"/>
          <p:nvPr/>
        </p:nvSpPr>
        <p:spPr>
          <a:xfrm>
            <a:off x="6812280" y="4617720"/>
            <a:ext cx="4663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0F6B40"/>
                </a:solidFill>
                <a:latin typeface="Segoe UI"/>
              </a:rPr>
              <a:t>12–36 months  ·  </a:t>
            </a:r>
            <a:r>
              <a:rPr sz="1500" b="1">
                <a:solidFill>
                  <a:srgbClr val="10201A"/>
                </a:solidFill>
                <a:latin typeface="Segoe UI"/>
              </a:rPr>
              <a:t>Scale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0F6B40"/>
                </a:solidFill>
                <a:latin typeface="Segoe UI"/>
              </a:rPr>
              <a:t>● </a:t>
            </a:r>
            <a:r>
              <a:rPr sz="1150" b="0">
                <a:solidFill>
                  <a:srgbClr val="4A5B52"/>
                </a:solidFill>
                <a:latin typeface="Segoe UI"/>
              </a:rPr>
              <a:t>on-device AI waste recognition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0F6B40"/>
                </a:solidFill>
                <a:latin typeface="Segoe UI"/>
              </a:rPr>
              <a:t>● </a:t>
            </a:r>
            <a:r>
              <a:rPr sz="1150" b="0">
                <a:solidFill>
                  <a:srgbClr val="4A5B52"/>
                </a:solidFill>
                <a:latin typeface="Segoe UI"/>
              </a:rPr>
              <a:t>MBG school-kitchen pilots with MRV</a:t>
            </a:r>
          </a:p>
        </p:txBody>
      </p:sp>
      <p:sp>
        <p:nvSpPr>
          <p:cNvPr id="18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Sources: </a:t>
            </a:r>
            <a:r>
              <a:rPr sz="850" b="0">
                <a:solidFill>
                  <a:srgbClr val="86958D"/>
                </a:solidFill>
                <a:latin typeface="Segoe UI"/>
              </a:rPr>
              <a:t>Sensitivity analysis (this work); C/N 20–30 and H₂S removal (Weiland 2010, Appl. Microbiol. Biotechnol. 85:849; Mata-Alvarez et al. 2000).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6" presetClass="emph" presetSubtype="0" fill="hold" nodeType="withEffect">
                                  <p:stCondLst>
                                    <p:cond delay="1710"/>
                                  </p:stCondLst>
                                  <p:childTnLst>
                                    <p:animScale>
                                      <p:cBhvr>
                                        <p:cTn id="62" dur="1100" autoRev="1" fill="hold" repeatCount="indefinite" accel="50000" decel="50000"/>
                                        <p:tgtEl>
                                          <p:spTgt spid="10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65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6797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13 · CONCLUSION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Answers to </a:t>
            </a:r>
            <a:r>
              <a:rPr sz="3200" b="1">
                <a:solidFill>
                  <a:srgbClr val="158A52"/>
                </a:solidFill>
                <a:latin typeface="Segoe UI"/>
              </a:rPr>
              <a:t>the research questions.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13</a:t>
            </a:r>
          </a:p>
        </p:txBody>
      </p:sp>
      <p:pic>
        <p:nvPicPr>
          <p:cNvPr id="7" name="Con_0_card" descr="raise_7.00_0.9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463040"/>
            <a:ext cx="7040880" cy="1508760"/>
          </a:xfrm>
          <a:prstGeom prst="rect">
            <a:avLst/>
          </a:prstGeom>
        </p:spPr>
      </p:pic>
      <p:sp>
        <p:nvSpPr>
          <p:cNvPr id="8" name="Con_0_dot"/>
          <p:cNvSpPr/>
          <p:nvPr/>
        </p:nvSpPr>
        <p:spPr>
          <a:xfrm>
            <a:off x="713232" y="1984248"/>
            <a:ext cx="475488" cy="47548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RQ1</a:t>
            </a:r>
          </a:p>
        </p:txBody>
      </p:sp>
      <p:sp>
        <p:nvSpPr>
          <p:cNvPr id="9" name="Con_0"/>
          <p:cNvSpPr txBox="1"/>
          <p:nvPr/>
        </p:nvSpPr>
        <p:spPr>
          <a:xfrm>
            <a:off x="1325880" y="1892807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5B52"/>
                </a:solidFill>
                <a:latin typeface="Segoe UI"/>
              </a:rPr>
              <a:t>A 100 L digester at OLR 3.4 kg VS/m³·d and HRT ≈ 34 d is predicted to be stable for 1.5 kg/d; peaks above ≈ 3 kg/d require pausing.</a:t>
            </a:r>
          </a:p>
        </p:txBody>
      </p:sp>
      <p:pic>
        <p:nvPicPr>
          <p:cNvPr id="10" name="Con_1_card" descr="raise_7.00_0.9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487168"/>
            <a:ext cx="7040880" cy="1508760"/>
          </a:xfrm>
          <a:prstGeom prst="rect">
            <a:avLst/>
          </a:prstGeom>
        </p:spPr>
      </p:pic>
      <p:sp>
        <p:nvSpPr>
          <p:cNvPr id="11" name="Con_1_dot"/>
          <p:cNvSpPr/>
          <p:nvPr/>
        </p:nvSpPr>
        <p:spPr>
          <a:xfrm>
            <a:off x="713232" y="3008376"/>
            <a:ext cx="475488" cy="47548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RQ2</a:t>
            </a:r>
          </a:p>
        </p:txBody>
      </p:sp>
      <p:sp>
        <p:nvSpPr>
          <p:cNvPr id="12" name="Con_1"/>
          <p:cNvSpPr txBox="1"/>
          <p:nvPr/>
        </p:nvSpPr>
        <p:spPr>
          <a:xfrm>
            <a:off x="1325880" y="2916936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5B52"/>
                </a:solidFill>
                <a:latin typeface="Segoe UI"/>
              </a:rPr>
              <a:t>≈ 214 L biogas/d → ≈ 43 min cooking, ≈ 3.0 kg LPG-eq/month and ≈ 0.72 t CO₂e/yr avoided.</a:t>
            </a:r>
          </a:p>
        </p:txBody>
      </p:sp>
      <p:pic>
        <p:nvPicPr>
          <p:cNvPr id="13" name="Con_2_card" descr="raise_7.00_0.9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511296"/>
            <a:ext cx="7040880" cy="1508760"/>
          </a:xfrm>
          <a:prstGeom prst="rect">
            <a:avLst/>
          </a:prstGeom>
        </p:spPr>
      </p:pic>
      <p:sp>
        <p:nvSpPr>
          <p:cNvPr id="14" name="Con_2_dot"/>
          <p:cNvSpPr/>
          <p:nvPr/>
        </p:nvSpPr>
        <p:spPr>
          <a:xfrm>
            <a:off x="713232" y="4032504"/>
            <a:ext cx="475488" cy="475488"/>
          </a:xfrm>
          <a:prstGeom prst="ellipse">
            <a:avLst/>
          </a:prstGeom>
          <a:solidFill>
            <a:srgbClr val="158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RQ3</a:t>
            </a:r>
          </a:p>
        </p:txBody>
      </p:sp>
      <p:sp>
        <p:nvSpPr>
          <p:cNvPr id="15" name="Con_2"/>
          <p:cNvSpPr txBox="1"/>
          <p:nvPr/>
        </p:nvSpPr>
        <p:spPr>
          <a:xfrm>
            <a:off x="1325880" y="3941064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A5B52"/>
                </a:solidFill>
                <a:latin typeface="Segoe UI"/>
              </a:rPr>
              <a:t>NDIR sensing, rule-based interlocks and app guidance close the monitoring gap; SUS to be measured.</a:t>
            </a:r>
          </a:p>
        </p:txBody>
      </p:sp>
      <p:pic>
        <p:nvPicPr>
          <p:cNvPr id="16" name="GHG_card" descr="raise_4.86_3.05_0.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1389888"/>
            <a:ext cx="5084064" cy="3431110"/>
          </a:xfrm>
          <a:prstGeom prst="rect">
            <a:avLst/>
          </a:prstGeom>
        </p:spPr>
      </p:pic>
      <p:pic>
        <p:nvPicPr>
          <p:cNvPr id="17" name="GHG" descr="sci_gh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783080"/>
            <a:ext cx="4297680" cy="2644726"/>
          </a:xfrm>
          <a:prstGeom prst="rect">
            <a:avLst/>
          </a:prstGeom>
        </p:spPr>
      </p:pic>
      <p:pic>
        <p:nvPicPr>
          <p:cNvPr id="18" name="QR_card" descr="aura_7.00_1.10_0.2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4617720"/>
            <a:ext cx="7040880" cy="1645920"/>
          </a:xfrm>
          <a:prstGeom prst="rect">
            <a:avLst/>
          </a:prstGeom>
        </p:spPr>
      </p:pic>
      <p:pic>
        <p:nvPicPr>
          <p:cNvPr id="19" name="QR" descr="q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5010912"/>
            <a:ext cx="841248" cy="841248"/>
          </a:xfrm>
          <a:prstGeom prst="rect">
            <a:avLst/>
          </a:prstGeom>
        </p:spPr>
      </p:pic>
      <p:sp>
        <p:nvSpPr>
          <p:cNvPr id="20" name="QR_t"/>
          <p:cNvSpPr txBox="1"/>
          <p:nvPr/>
        </p:nvSpPr>
        <p:spPr>
          <a:xfrm>
            <a:off x="1691640" y="5047488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0201A"/>
                </a:solidFill>
                <a:latin typeface="Segoe UI"/>
              </a:rPr>
              <a:t>Live prototype app  </a:t>
            </a:r>
            <a:r>
              <a:rPr sz="1300" b="1">
                <a:solidFill>
                  <a:srgbClr val="158A52"/>
                </a:solidFill>
                <a:latin typeface="Segoe UI"/>
              </a:rPr>
              <a:t>aruna-id.web.app</a:t>
            </a:r>
          </a:p>
          <a:p>
            <a:pPr algn="l">
              <a:lnSpc>
                <a:spcPct val="100000"/>
              </a:lnSpc>
            </a:pPr>
            <a:r>
              <a:rPr sz="1050" b="0">
                <a:solidFill>
                  <a:srgbClr val="86958D"/>
                </a:solidFill>
                <a:latin typeface="Segoe UI"/>
              </a:rPr>
              <a:t>Values are design predictions; measured results will replace them after testing.</a:t>
            </a:r>
          </a:p>
        </p:txBody>
      </p:sp>
      <p:sp>
        <p:nvSpPr>
          <p:cNvPr id="21" name="Cite"/>
          <p:cNvSpPr txBox="1"/>
          <p:nvPr/>
        </p:nvSpPr>
        <p:spPr>
          <a:xfrm>
            <a:off x="548640" y="616305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6958D"/>
                </a:solidFill>
                <a:latin typeface="Segoe UI"/>
              </a:rPr>
              <a:t>Sources: </a:t>
            </a:r>
            <a:r>
              <a:rPr sz="850" b="0">
                <a:solidFill>
                  <a:srgbClr val="86958D"/>
                </a:solidFill>
                <a:latin typeface="Segoe UI"/>
              </a:rPr>
              <a:t>This work; IPCC 2006 Vol. 5 Ch. 3 (FOD defaults); IPCC AR5 (GWP100 = 28).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5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5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5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5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5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14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5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65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5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hip"/>
          <p:cNvSpPr/>
          <p:nvPr/>
        </p:nvSpPr>
        <p:spPr>
          <a:xfrm>
            <a:off x="548640" y="457200"/>
            <a:ext cx="16797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>
                <a:solidFill>
                  <a:srgbClr val="158A52"/>
                </a:solidFill>
                <a:latin typeface="Segoe UI"/>
              </a:rPr>
              <a:t>14 · REFERENCES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548640" y="896112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200" b="1">
                <a:solidFill>
                  <a:srgbClr val="10201A"/>
                </a:solidFill>
                <a:latin typeface="Segoe UI"/>
              </a:rPr>
              <a:t>Literature </a:t>
            </a:r>
            <a:r>
              <a:rPr sz="3200" b="1">
                <a:solidFill>
                  <a:srgbClr val="158A52"/>
                </a:solidFill>
                <a:latin typeface="Segoe UI"/>
              </a:rPr>
              <a:t>and data sources.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48640" y="6446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58A52"/>
                </a:solidFill>
                <a:latin typeface="Segoe UI"/>
              </a:rPr>
              <a:t>ARUNA</a:t>
            </a:r>
            <a:r>
              <a:rPr sz="900" b="0">
                <a:solidFill>
                  <a:srgbClr val="86958D"/>
                </a:solidFill>
                <a:latin typeface="Segoe UI"/>
              </a:rPr>
              <a:t>  ·  smart home biodigester</a:t>
            </a:r>
          </a:p>
        </p:txBody>
      </p:sp>
      <p:sp>
        <p:nvSpPr>
          <p:cNvPr id="6" name="PageNo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6958D"/>
                </a:solidFill>
                <a:latin typeface="Segoe UI"/>
              </a:rPr>
              <a:t>14</a:t>
            </a:r>
          </a:p>
        </p:txBody>
      </p:sp>
      <p:pic>
        <p:nvPicPr>
          <p:cNvPr id="7" name="Ref_0_card" descr="raise_5.95_4.7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371600"/>
            <a:ext cx="6080760" cy="4983480"/>
          </a:xfrm>
          <a:prstGeom prst="rect">
            <a:avLst/>
          </a:prstGeom>
        </p:spPr>
      </p:pic>
      <p:sp>
        <p:nvSpPr>
          <p:cNvPr id="8" name="Ref_0"/>
          <p:cNvSpPr txBox="1"/>
          <p:nvPr/>
        </p:nvSpPr>
        <p:spPr>
          <a:xfrm>
            <a:off x="731520" y="1801368"/>
            <a:ext cx="5120640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1. </a:t>
            </a:r>
            <a:r>
              <a:rPr sz="860" b="0">
                <a:solidFill>
                  <a:srgbClr val="4A5B52"/>
                </a:solidFill>
                <a:latin typeface="Segoe UI"/>
              </a:rPr>
              <a:t>APHA (2017). Standard Methods for the Examination of Water and Wastewater, 23rd ed., Method 2540.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2. </a:t>
            </a:r>
            <a:r>
              <a:rPr sz="860" b="0">
                <a:solidFill>
                  <a:srgbClr val="4A5B52"/>
                </a:solidFill>
                <a:latin typeface="Segoe UI"/>
              </a:rPr>
              <a:t>Appels, L. et al. (2008). Prog. Energy Combust. Sci. 34(6), 755–781. doi:10.1016/j.pecs.2008.06.002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3. </a:t>
            </a:r>
            <a:r>
              <a:rPr sz="860" b="0">
                <a:solidFill>
                  <a:srgbClr val="4A5B52"/>
                </a:solidFill>
                <a:latin typeface="Segoe UI"/>
              </a:rPr>
              <a:t>Bangor, A., Kortum, P., Miller, J. (2009). J. Usability Stud. 4(3), 114–123.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4. </a:t>
            </a:r>
            <a:r>
              <a:rPr sz="860" b="0">
                <a:solidFill>
                  <a:srgbClr val="4A5B52"/>
                </a:solidFill>
                <a:latin typeface="Segoe UI"/>
              </a:rPr>
              <a:t>Bappenas (2021). Food Loss and Waste in Indonesia. Ministry of National Development Planning.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5. </a:t>
            </a:r>
            <a:r>
              <a:rPr sz="860" b="0">
                <a:solidFill>
                  <a:srgbClr val="4A5B52"/>
                </a:solidFill>
                <a:latin typeface="Segoe UI"/>
              </a:rPr>
              <a:t>Brooke, J. (1996). SUS: a 'quick and dirty' usability scale. Usability Evaluation in Industry, 189–194.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6. </a:t>
            </a:r>
            <a:r>
              <a:rPr sz="860" b="0">
                <a:solidFill>
                  <a:srgbClr val="4A5B52"/>
                </a:solidFill>
                <a:latin typeface="Segoe UI"/>
              </a:rPr>
              <a:t>Buswell, A. M., Mueller, H. F. (1952). Ind. Eng. Chem. 44(3), 550–552. doi:10.1021/ie50507a033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7. </a:t>
            </a:r>
            <a:r>
              <a:rPr sz="860" b="0">
                <a:solidFill>
                  <a:srgbClr val="4A5B52"/>
                </a:solidFill>
                <a:latin typeface="Segoe UI"/>
              </a:rPr>
              <a:t>Chen, Y., Cheng, J. J., Creamer, K. S. (2008). Bioresour. Technol. 99(10), 4044–4064. doi:10.1016/j.biortech.2007.01.057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8. </a:t>
            </a:r>
            <a:r>
              <a:rPr sz="860" b="0">
                <a:solidFill>
                  <a:srgbClr val="4A5B52"/>
                </a:solidFill>
                <a:latin typeface="Segoe UI"/>
              </a:rPr>
              <a:t>ESDM (2021). Strategi pengembangan biogas menuju target 1 juta biodigester. Ditjen EBTKE.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9. </a:t>
            </a:r>
            <a:r>
              <a:rPr sz="860" b="0">
                <a:solidFill>
                  <a:srgbClr val="4A5B52"/>
                </a:solidFill>
                <a:latin typeface="Segoe UI"/>
              </a:rPr>
              <a:t>HomeBiogas (2024). HomeBiogas 2 product specifications. homebiogas.com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10. </a:t>
            </a:r>
            <a:r>
              <a:rPr sz="860" b="0">
                <a:solidFill>
                  <a:srgbClr val="4A5B52"/>
                </a:solidFill>
                <a:latin typeface="Segoe UI"/>
              </a:rPr>
              <a:t>IPCC (2006). Guidelines for National GHG Inventories, Vol. 5 Waste, Ch. 3.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11. </a:t>
            </a:r>
            <a:r>
              <a:rPr sz="860" b="0">
                <a:solidFill>
                  <a:srgbClr val="4A5B52"/>
                </a:solidFill>
                <a:latin typeface="Segoe UI"/>
              </a:rPr>
              <a:t>IPCC (2014). Climate Change 2014: Synthesis Report (AR5).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12. </a:t>
            </a:r>
            <a:r>
              <a:rPr sz="860" b="0">
                <a:solidFill>
                  <a:srgbClr val="4A5B52"/>
                </a:solidFill>
                <a:latin typeface="Segoe UI"/>
              </a:rPr>
              <a:t>KLHK (2023). SIPSN: Komposisi sampah. sipsn.menlhk.go.id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13. </a:t>
            </a:r>
            <a:r>
              <a:rPr sz="860" b="0">
                <a:solidFill>
                  <a:srgbClr val="4A5B52"/>
                </a:solidFill>
                <a:latin typeface="Segoe UI"/>
              </a:rPr>
              <a:t>Liu, X. et al. (2021). Appl. Sci. 11(24), 11843. doi:10.3390/app112411843</a:t>
            </a:r>
          </a:p>
        </p:txBody>
      </p:sp>
      <p:pic>
        <p:nvPicPr>
          <p:cNvPr id="9" name="Ref_1_card" descr="raise_5.95_4.75_0.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1371600"/>
            <a:ext cx="6080760" cy="4983480"/>
          </a:xfrm>
          <a:prstGeom prst="rect">
            <a:avLst/>
          </a:prstGeom>
        </p:spPr>
      </p:pic>
      <p:sp>
        <p:nvSpPr>
          <p:cNvPr id="10" name="Ref_1"/>
          <p:cNvSpPr txBox="1"/>
          <p:nvPr/>
        </p:nvSpPr>
        <p:spPr>
          <a:xfrm>
            <a:off x="6355080" y="1801368"/>
            <a:ext cx="5120640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14. </a:t>
            </a:r>
            <a:r>
              <a:rPr sz="860" b="0">
                <a:solidFill>
                  <a:srgbClr val="4A5B52"/>
                </a:solidFill>
                <a:latin typeface="Segoe UI"/>
              </a:rPr>
              <a:t>Lomi (2024). How much energy does Lomi use? lomi.com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15. </a:t>
            </a:r>
            <a:r>
              <a:rPr sz="860" b="0">
                <a:solidFill>
                  <a:srgbClr val="4A5B52"/>
                </a:solidFill>
                <a:latin typeface="Segoe UI"/>
              </a:rPr>
              <a:t>Mata-Alvarez, J., Macé, S., Llabrés, P. (2000). Bioresour. Technol. 74(1), 3–16. doi:10.1016/S0960-8524(00)00023-7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16. </a:t>
            </a:r>
            <a:r>
              <a:rPr sz="860" b="0">
                <a:solidFill>
                  <a:srgbClr val="4A5B52"/>
                </a:solidFill>
                <a:latin typeface="Segoe UI"/>
              </a:rPr>
              <a:t>Prasetyono, S. et al. (2026). J. Mechatron. Electr. Power Veh. Technol. 17(1), 29–38. doi:10.55981/j.mev.2026.1352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17. </a:t>
            </a:r>
            <a:r>
              <a:rPr sz="860" b="0">
                <a:solidFill>
                  <a:srgbClr val="4A5B52"/>
                </a:solidFill>
                <a:latin typeface="Segoe UI"/>
              </a:rPr>
              <a:t>Rajendran, K. et al. (2012). Energies 5(8), 2911–2942. doi:10.3390/en5082911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18. </a:t>
            </a:r>
            <a:r>
              <a:rPr sz="860" b="0">
                <a:solidFill>
                  <a:srgbClr val="4A5B52"/>
                </a:solidFill>
                <a:latin typeface="Segoe UI"/>
              </a:rPr>
              <a:t>SSWM / Akvopedia (2019). Biogas combustion. sswm.info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19. </a:t>
            </a:r>
            <a:r>
              <a:rPr sz="860" b="0">
                <a:solidFill>
                  <a:srgbClr val="4A5B52"/>
                </a:solidFill>
                <a:latin typeface="Segoe UI"/>
              </a:rPr>
              <a:t>Thiagarajan, S., Semmel, D. S., Semmel, M. I. (1974). Instructional Development for Training Teachers of Exceptional Children. Indiana Univ.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20. </a:t>
            </a:r>
            <a:r>
              <a:rPr sz="860" b="0">
                <a:solidFill>
                  <a:srgbClr val="4A5B52"/>
                </a:solidFill>
                <a:latin typeface="Segoe UI"/>
              </a:rPr>
              <a:t>UNEP (2024). Food Waste Index Report 2024. Nairobi.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21. </a:t>
            </a:r>
            <a:r>
              <a:rPr sz="860" b="0">
                <a:solidFill>
                  <a:srgbClr val="4A5B52"/>
                </a:solidFill>
                <a:latin typeface="Segoe UI"/>
              </a:rPr>
              <a:t>VDI 4630 (2016). Fermentation of organic materials. Verein Deutscher Ingenieure.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22. </a:t>
            </a:r>
            <a:r>
              <a:rPr sz="860" b="0">
                <a:solidFill>
                  <a:srgbClr val="4A5B52"/>
                </a:solidFill>
                <a:latin typeface="Segoe UI"/>
              </a:rPr>
              <a:t>Weiland, P. (2010). Appl. Microbiol. Biotechnol. 85(4), 849–860. doi:10.1007/s00253-009-2246-7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23. </a:t>
            </a:r>
            <a:r>
              <a:rPr sz="860" b="0">
                <a:solidFill>
                  <a:srgbClr val="4A5B52"/>
                </a:solidFill>
                <a:latin typeface="Segoe UI"/>
              </a:rPr>
              <a:t>Winsen (n.d.). MH-440D NDIR CH₄ sensor; MQ-4 gas sensor datasheets.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24. </a:t>
            </a:r>
            <a:r>
              <a:rPr sz="860" b="0">
                <a:solidFill>
                  <a:srgbClr val="4A5B52"/>
                </a:solidFill>
                <a:latin typeface="Segoe UI"/>
              </a:rPr>
              <a:t>Xu, F. et al. (2018). Bioresour. Technol. 247, 1047–1058. doi:10.1016/j.biortech.2017.09.020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25. </a:t>
            </a:r>
            <a:r>
              <a:rPr sz="860" b="0">
                <a:solidFill>
                  <a:srgbClr val="4A5B52"/>
                </a:solidFill>
                <a:latin typeface="Segoe UI"/>
              </a:rPr>
              <a:t>Zhang, R. et al. (2007). Bioresour. Technol. 98(4), 929–935. doi:10.1016/j.biortech.2006.02.039</a:t>
            </a:r>
          </a:p>
          <a:p>
            <a:pPr algn="l">
              <a:lnSpc>
                <a:spcPct val="103000"/>
              </a:lnSpc>
            </a:pPr>
            <a:r>
              <a:rPr sz="860" b="1">
                <a:solidFill>
                  <a:srgbClr val="158A52"/>
                </a:solidFill>
                <a:latin typeface="Segoe UI"/>
              </a:rPr>
              <a:t>26. </a:t>
            </a:r>
            <a:r>
              <a:rPr sz="860" b="0">
                <a:solidFill>
                  <a:srgbClr val="4A5B52"/>
                </a:solidFill>
                <a:latin typeface="Segoe UI"/>
              </a:rPr>
              <a:t>Zwietering, M. H. et al. (1990). Appl. Environ. Microbiol. 56(6), 1875–1881. doi:10.1128/aem.56.6.1875-1881.1990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5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5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31" repeatCount="indefinite" fill="hold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animBg="1"/>
      <p:bldP spid="4" grpId="0" animBg="1"/>
      <p:bldP spid="8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