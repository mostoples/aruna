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Relationship Id="rId9" Type="http://schemas.openxmlformats.org/officeDocument/2006/relationships/image" Target="../media/image21.jpg"/><Relationship Id="rId10" Type="http://schemas.openxmlformats.org/officeDocument/2006/relationships/image" Target="../media/image2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01</a:t>
            </a:r>
          </a:p>
        </p:txBody>
      </p:sp>
      <p:pic>
        <p:nvPicPr>
          <p:cNvPr id="5" name="FX_FLOAT_Cover" descr="cover_sc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211" y="594360"/>
            <a:ext cx="4695444" cy="6035040"/>
          </a:xfrm>
          <a:prstGeom prst="rect">
            <a:avLst/>
          </a:prstGeom>
        </p:spPr>
      </p:pic>
      <p:sp>
        <p:nvSpPr>
          <p:cNvPr id="6" name="Chip"/>
          <p:cNvSpPr/>
          <p:nvPr/>
        </p:nvSpPr>
        <p:spPr>
          <a:xfrm>
            <a:off x="548640" y="868680"/>
            <a:ext cx="41440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RISET &amp; PENGEMBANGAN · TEKNIK LINGKUNGAN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548640" y="13258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10201A"/>
                </a:solidFill>
                <a:latin typeface="Segoe UI"/>
              </a:rPr>
              <a:t>ARUNA</a:t>
            </a:r>
          </a:p>
        </p:txBody>
      </p:sp>
      <p:sp>
        <p:nvSpPr>
          <p:cNvPr id="8" name="Sub"/>
          <p:cNvSpPr txBox="1"/>
          <p:nvPr/>
        </p:nvSpPr>
        <p:spPr>
          <a:xfrm>
            <a:off x="548640" y="251460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0201A"/>
                </a:solidFill>
                <a:latin typeface="Segoe UI"/>
              </a:rPr>
              <a:t>Desain berbasis kinetika digester anaerob </a:t>
            </a:r>
            <a:r>
              <a:rPr sz="2400" b="1">
                <a:solidFill>
                  <a:srgbClr val="158A52"/>
                </a:solidFill>
                <a:latin typeface="Segoe UI"/>
              </a:rPr>
              <a:t>rumah tangga ber-IoT untuk sisa makanan</a:t>
            </a:r>
          </a:p>
        </p:txBody>
      </p:sp>
      <p:sp>
        <p:nvSpPr>
          <p:cNvPr id="9" name="Desc"/>
          <p:cNvSpPr txBox="1"/>
          <p:nvPr/>
        </p:nvSpPr>
        <p:spPr>
          <a:xfrm>
            <a:off x="548640" y="37947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B52"/>
                </a:solidFill>
                <a:latin typeface="Segoe UI"/>
              </a:rPr>
              <a:t>Anaerobic Recycling and Upcycling of Nutrient-rich food wAste: diukur dari neraca massa dan kinetika Gompertz, dilengkapi sensor metana NDIR dan interlock keamanan.</a:t>
            </a:r>
          </a:p>
        </p:txBody>
      </p:sp>
      <p:sp>
        <p:nvSpPr>
          <p:cNvPr id="10" name="SDG_0"/>
          <p:cNvSpPr/>
          <p:nvPr/>
        </p:nvSpPr>
        <p:spPr>
          <a:xfrm>
            <a:off x="548640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89A08"/>
          </a:solidFill>
          <a:ln w="9525">
            <a:solidFill>
              <a:srgbClr val="C89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7.1</a:t>
            </a:r>
          </a:p>
        </p:txBody>
      </p:sp>
      <p:sp>
        <p:nvSpPr>
          <p:cNvPr id="11" name="SDG_1"/>
          <p:cNvSpPr/>
          <p:nvPr/>
        </p:nvSpPr>
        <p:spPr>
          <a:xfrm>
            <a:off x="1572768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08010"/>
          </a:solidFill>
          <a:ln w="9525">
            <a:solidFill>
              <a:srgbClr val="E08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11.6</a:t>
            </a:r>
          </a:p>
        </p:txBody>
      </p:sp>
      <p:sp>
        <p:nvSpPr>
          <p:cNvPr id="12" name="SDG_2"/>
          <p:cNvSpPr/>
          <p:nvPr/>
        </p:nvSpPr>
        <p:spPr>
          <a:xfrm>
            <a:off x="2596896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A07426"/>
          </a:solidFill>
          <a:ln w="9525">
            <a:solidFill>
              <a:srgbClr val="A07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12.3</a:t>
            </a:r>
          </a:p>
        </p:txBody>
      </p:sp>
      <p:sp>
        <p:nvSpPr>
          <p:cNvPr id="13" name="SDG_3"/>
          <p:cNvSpPr/>
          <p:nvPr/>
        </p:nvSpPr>
        <p:spPr>
          <a:xfrm>
            <a:off x="3621024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F7E44"/>
          </a:solidFill>
          <a:ln w="9525">
            <a:solidFill>
              <a:srgbClr val="3F7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13.2</a:t>
            </a:r>
          </a:p>
        </p:txBody>
      </p:sp>
      <p:sp>
        <p:nvSpPr>
          <p:cNvPr id="14" name="Team"/>
          <p:cNvSpPr txBox="1"/>
          <p:nvPr/>
        </p:nvSpPr>
        <p:spPr>
          <a:xfrm>
            <a:off x="548640" y="5486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8741A"/>
                </a:solidFill>
                <a:latin typeface="Segoe UI"/>
              </a:rPr>
              <a:t>[Team name]</a:t>
            </a:r>
            <a:r>
              <a:rPr sz="1200" b="0">
                <a:solidFill>
                  <a:srgbClr val="4A5B52"/>
                </a:solidFill>
                <a:latin typeface="Segoe UI"/>
              </a:rPr>
              <a:t>  ·  [Supervisor]  ·  [Institution]  · 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42" dur="2600" accel="50000" decel="50000" autoRev="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07404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02 · LATAR BELAKANG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Sisa makanan: </a:t>
            </a:r>
            <a:r>
              <a:rPr sz="3200" b="1">
                <a:solidFill>
                  <a:srgbClr val="158A52"/>
                </a:solidFill>
                <a:latin typeface="Segoe UI"/>
              </a:rPr>
              <a:t>sampah organik terbesar Indonesia.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02</a:t>
            </a:r>
          </a:p>
        </p:txBody>
      </p:sp>
      <p:pic>
        <p:nvPicPr>
          <p:cNvPr id="7" name="Stat_0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463040"/>
            <a:ext cx="3200400" cy="2240280"/>
          </a:xfrm>
          <a:prstGeom prst="rect">
            <a:avLst/>
          </a:prstGeom>
        </p:spPr>
      </p:pic>
      <p:sp>
        <p:nvSpPr>
          <p:cNvPr id="8" name="Stat_0"/>
          <p:cNvSpPr txBox="1"/>
          <p:nvPr/>
        </p:nvSpPr>
        <p:spPr>
          <a:xfrm>
            <a:off x="749808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58A52"/>
                </a:solidFill>
                <a:latin typeface="Segoe UI"/>
              </a:rPr>
              <a:t>53 kg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sisa makanan rumah tangga per kapita per tahun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UNEP (2024)</a:t>
            </a:r>
          </a:p>
        </p:txBody>
      </p:sp>
      <p:pic>
        <p:nvPicPr>
          <p:cNvPr id="9" name="Stat_1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1463040"/>
            <a:ext cx="3200400" cy="2240280"/>
          </a:xfrm>
          <a:prstGeom prst="rect">
            <a:avLst/>
          </a:prstGeom>
        </p:spPr>
      </p:pic>
      <p:sp>
        <p:nvSpPr>
          <p:cNvPr id="10" name="Stat_1"/>
          <p:cNvSpPr txBox="1"/>
          <p:nvPr/>
        </p:nvSpPr>
        <p:spPr>
          <a:xfrm>
            <a:off x="3557016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7A6A"/>
                </a:solidFill>
                <a:latin typeface="Segoe UI"/>
              </a:rPr>
              <a:t>14,7 Mt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sisa makanan rumah tangga per tahun, Indonesia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UNEP (2024)</a:t>
            </a:r>
          </a:p>
        </p:txBody>
      </p:sp>
      <p:pic>
        <p:nvPicPr>
          <p:cNvPr id="11" name="Stat_2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1463040"/>
            <a:ext cx="3200400" cy="2240280"/>
          </a:xfrm>
          <a:prstGeom prst="rect">
            <a:avLst/>
          </a:prstGeom>
        </p:spPr>
      </p:pic>
      <p:sp>
        <p:nvSpPr>
          <p:cNvPr id="12" name="Stat_2"/>
          <p:cNvSpPr txBox="1"/>
          <p:nvPr/>
        </p:nvSpPr>
        <p:spPr>
          <a:xfrm>
            <a:off x="6364223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8741A"/>
                </a:solidFill>
                <a:latin typeface="Segoe UI"/>
              </a:rPr>
              <a:t>≈40%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sampah kota berupa sisa makanan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SIPSN KLHK (2023)</a:t>
            </a:r>
          </a:p>
        </p:txBody>
      </p:sp>
      <p:pic>
        <p:nvPicPr>
          <p:cNvPr id="13" name="Stat_3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1463040"/>
            <a:ext cx="3200400" cy="2240280"/>
          </a:xfrm>
          <a:prstGeom prst="rect">
            <a:avLst/>
          </a:prstGeom>
        </p:spPr>
      </p:pic>
      <p:sp>
        <p:nvSpPr>
          <p:cNvPr id="14" name="Stat_3"/>
          <p:cNvSpPr txBox="1"/>
          <p:nvPr/>
        </p:nvSpPr>
        <p:spPr>
          <a:xfrm>
            <a:off x="9171432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443A"/>
                </a:solidFill>
                <a:latin typeface="Segoe UI"/>
              </a:rPr>
              <a:t>1,7 Gt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CO₂e dari susut &amp; sisa pangan, 2000–2019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Bappenas (2021)</a:t>
            </a:r>
          </a:p>
        </p:txBody>
      </p:sp>
      <p:pic>
        <p:nvPicPr>
          <p:cNvPr id="15" name="Feed_card" descr="aura_5.90_2.55_0.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337560"/>
            <a:ext cx="6035040" cy="2971800"/>
          </a:xfrm>
          <a:prstGeom prst="rect">
            <a:avLst/>
          </a:prstGeom>
        </p:spPr>
      </p:pic>
      <p:sp>
        <p:nvSpPr>
          <p:cNvPr id="16" name="Feed_h"/>
          <p:cNvSpPr txBox="1"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6B40"/>
                </a:solidFill>
                <a:latin typeface="Segoe UI"/>
              </a:rPr>
              <a:t>Mengapa pencernaan anaerob?</a:t>
            </a:r>
          </a:p>
        </p:txBody>
      </p:sp>
      <p:graphicFrame>
        <p:nvGraphicFramePr>
          <p:cNvPr id="17" name="Feed_tbl"/>
          <p:cNvGraphicFramePr>
            <a:graphicFrameLocks noGrp="1"/>
          </p:cNvGraphicFramePr>
          <p:nvPr/>
        </p:nvGraphicFramePr>
        <p:xfrm>
          <a:off x="777240" y="4206240"/>
          <a:ext cx="493776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4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Sifat sisa makanan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Nilai tipikal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Sumber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Total solids (TS)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23–27 %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Xu et al. (2018)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Volatile solids (VS/TS)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90–95 %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Xu et al. (2018)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Potensi CH₄ biokimia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330–490 mL CH₄/g VS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Zhang et al. (2007)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Teoretis (Buswell)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≈ 643 mL CH₄/g VS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Buswell &amp; Mueller (1952)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pic>
        <p:nvPicPr>
          <p:cNvPr id="18" name="RQ_card" descr="raise_5.85_2.55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337560"/>
            <a:ext cx="5989320" cy="2971800"/>
          </a:xfrm>
          <a:prstGeom prst="rect">
            <a:avLst/>
          </a:prstGeom>
        </p:spPr>
      </p:pic>
      <p:sp>
        <p:nvSpPr>
          <p:cNvPr id="19" name="RQ_h"/>
          <p:cNvSpPr txBox="1"/>
          <p:nvPr/>
        </p:nvSpPr>
        <p:spPr>
          <a:xfrm>
            <a:off x="6492240" y="3794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6B40"/>
                </a:solidFill>
                <a:latin typeface="Segoe UI"/>
              </a:rPr>
              <a:t>Pertanyaan penelitian</a:t>
            </a:r>
          </a:p>
        </p:txBody>
      </p:sp>
      <p:sp>
        <p:nvSpPr>
          <p:cNvPr id="20" name="RQ"/>
          <p:cNvSpPr txBox="1"/>
          <p:nvPr/>
        </p:nvSpPr>
        <p:spPr>
          <a:xfrm>
            <a:off x="6492240" y="42062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200" b="1">
                <a:solidFill>
                  <a:srgbClr val="10201A"/>
                </a:solidFill>
                <a:latin typeface="Segoe UI"/>
              </a:rPr>
              <a:t>RQ1 </a:t>
            </a:r>
            <a:r>
              <a:rPr sz="1200" b="0">
                <a:solidFill>
                  <a:srgbClr val="4A5B52"/>
                </a:solidFill>
                <a:latin typeface="Segoe UI"/>
              </a:rPr>
              <a:t>Berapa volume, OLR, dan HRT agar pencernaan sisa makanan rumah tangga stabil?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200" b="1">
                <a:solidFill>
                  <a:srgbClr val="10201A"/>
                </a:solidFill>
                <a:latin typeface="Segoe UI"/>
              </a:rPr>
              <a:t>RQ2 </a:t>
            </a:r>
            <a:r>
              <a:rPr sz="1200" b="0">
                <a:solidFill>
                  <a:srgbClr val="4A5B52"/>
                </a:solidFill>
                <a:latin typeface="Segoe UI"/>
              </a:rPr>
              <a:t>Berapa biogas, waktu masak, dan CO₂e terhindar dari satu unit?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200" b="1">
                <a:solidFill>
                  <a:srgbClr val="10201A"/>
                </a:solidFill>
                <a:latin typeface="Segoe UI"/>
              </a:rPr>
              <a:t>RQ3 </a:t>
            </a:r>
            <a:r>
              <a:rPr sz="1200" b="0">
                <a:solidFill>
                  <a:srgbClr val="4A5B52"/>
                </a:solidFill>
                <a:latin typeface="Segoe UI"/>
              </a:rPr>
              <a:t>Apakah umpan balik sensor membuat proses mudah dipakai awam (SUS ≥ 68)?</a:t>
            </a:r>
          </a:p>
        </p:txBody>
      </p:sp>
      <p:sp>
        <p:nvSpPr>
          <p:cNvPr id="21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UNEP Food Waste Index Report 2024; SIPSN KLHK 2023; Bappenas 2021 FLW study; Zhang et al. 2007, Bioresour. Technol. 98:929; Xu et al. 2018, Bioresour. Technol. 247:1047.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27118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03 · STATE OF THE ART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Solusi kini korbankan </a:t>
            </a:r>
            <a:r>
              <a:rPr sz="3200" b="1">
                <a:solidFill>
                  <a:srgbClr val="158A52"/>
                </a:solidFill>
                <a:latin typeface="Segoe UI"/>
              </a:rPr>
              <a:t>energi, ruang, atau pantauan.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03</a:t>
            </a:r>
          </a:p>
        </p:txBody>
      </p:sp>
      <p:graphicFrame>
        <p:nvGraphicFramePr>
          <p:cNvPr id="7" name="SOTA"/>
          <p:cNvGraphicFramePr>
            <a:graphicFrameLocks noGrp="1"/>
          </p:cNvGraphicFramePr>
          <p:nvPr/>
        </p:nvGraphicFramePr>
        <p:xfrm>
          <a:off x="548640" y="1783080"/>
          <a:ext cx="11064240" cy="28529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0280"/>
                <a:gridCol w="1554480"/>
                <a:gridCol w="1691640"/>
                <a:gridCol w="2011680"/>
                <a:gridCol w="1828800"/>
                <a:gridCol w="17373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Pendekatan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Ukuran / skala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Neraca energi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Pemantauan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Keterbatasan utama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Food recycler elektrik (Lomi)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di meja dapur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sisa makanan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memakai 0,6–1,0 kWh/siklus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tanpa pemulihan energi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HomeBiogas 2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2.1 × 1.15 m, 2.0 m³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4 L SM + 4 L air/hari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hingga 2 jam masak/hari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visual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luar ruang, tapak 2,4 m²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Digester kubah tetap (BIRU)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permanen, luar ruang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kotoran ternak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gas masak rumah tangga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tidak 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butuh ternak; 25.157 unit (2021)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Riset digester IoT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pilot / lab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organik campuran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terukur, belum jadi produk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ESP32: T, pH, CH₄, H₂S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bukan perangkat rumah tangga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ARUNA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0.44 × 0.44 m, 100 L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1,5 kg SM + 1,5 L air/hari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≈43 menit masak/hari (prediksi)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NDIR CH₄, pH, T, level + interlock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perlu validasi lapangan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pic>
        <p:nvPicPr>
          <p:cNvPr id="8" name="Gap_card" descr="aura_12.10_1.2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480560"/>
            <a:ext cx="11704319" cy="1783080"/>
          </a:xfrm>
          <a:prstGeom prst="rect">
            <a:avLst/>
          </a:prstGeom>
        </p:spPr>
      </p:pic>
      <p:sp>
        <p:nvSpPr>
          <p:cNvPr id="9" name="Gap"/>
          <p:cNvSpPr txBox="1"/>
          <p:nvPr/>
        </p:nvSpPr>
        <p:spPr>
          <a:xfrm>
            <a:off x="822959" y="4919472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58A52"/>
                </a:solidFill>
                <a:latin typeface="Segoe UI"/>
              </a:rPr>
              <a:t>Celah riset 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Belum ada opsi rumah tangga yang menggabungkan input sisa makanan, pemulihan energi, tapak dalam ruang, dan pemantauan proses real-time. Sensor MQ murah (300–10.000 ppm) tidak dapat mengukur CH₄ biogas (50–70 % vol); dibutuhkan sensor NDIR (0–100 % vol).</a:t>
            </a:r>
          </a:p>
        </p:txBody>
      </p:sp>
      <p:sp>
        <p:nvSpPr>
          <p:cNvPr id="10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Lomi (2024) energy use; HomeBiogas (2024) HB2 specifications; ESDM/Hivos BIRU (2021); Prasetyono et al. 2026, J. Mechatron. Electr. Power Veh. Technol. 17(1):29; Rajendran et al. 2012, Energies 5:2911; Winsen MQ-4 &amp; MH-440D datasheets.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1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28546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04 · SOLUSI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Cacah, aduk, cerna, ukur: </a:t>
            </a:r>
            <a:r>
              <a:rPr sz="3200" b="1">
                <a:solidFill>
                  <a:srgbClr val="158A52"/>
                </a:solidFill>
                <a:latin typeface="Segoe UI"/>
              </a:rPr>
              <a:t>tiga hasil.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04</a:t>
            </a:r>
          </a:p>
        </p:txBody>
      </p:sp>
      <p:pic>
        <p:nvPicPr>
          <p:cNvPr id="7" name="PFD_card" descr="raise_7.56_3.43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7552944" cy="3779285"/>
          </a:xfrm>
          <a:prstGeom prst="rect">
            <a:avLst/>
          </a:prstGeom>
        </p:spPr>
      </p:pic>
      <p:pic>
        <p:nvPicPr>
          <p:cNvPr id="8" name="PFD" descr="sci_pf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6766560" cy="2992901"/>
          </a:xfrm>
          <a:prstGeom prst="rect">
            <a:avLst/>
          </a:prstGeom>
        </p:spPr>
      </p:pic>
      <p:pic>
        <p:nvPicPr>
          <p:cNvPr id="9" name="Out_0_card" descr="raise_4.35_0.6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417319"/>
            <a:ext cx="4617720" cy="1207007"/>
          </a:xfrm>
          <a:prstGeom prst="rect">
            <a:avLst/>
          </a:prstGeom>
        </p:spPr>
      </p:pic>
      <p:sp>
        <p:nvSpPr>
          <p:cNvPr id="10" name="Out_0_dot"/>
          <p:cNvSpPr/>
          <p:nvPr/>
        </p:nvSpPr>
        <p:spPr>
          <a:xfrm>
            <a:off x="7772400" y="1837943"/>
            <a:ext cx="365760" cy="365760"/>
          </a:xfrm>
          <a:prstGeom prst="ellipse">
            <a:avLst/>
          </a:prstGeom>
          <a:solidFill>
            <a:srgbClr val="2D6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Out_0"/>
          <p:cNvSpPr txBox="1"/>
          <p:nvPr/>
        </p:nvSpPr>
        <p:spPr>
          <a:xfrm>
            <a:off x="8275320" y="179222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A"/>
                </a:solidFill>
                <a:latin typeface="Segoe UI"/>
              </a:rPr>
              <a:t>Biogas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214 L/hari · 1,3 kWh/hari</a:t>
            </a:r>
          </a:p>
        </p:txBody>
      </p:sp>
      <p:pic>
        <p:nvPicPr>
          <p:cNvPr id="12" name="Out_1_card" descr="raise_4.35_0.6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130551"/>
            <a:ext cx="4617720" cy="1207007"/>
          </a:xfrm>
          <a:prstGeom prst="rect">
            <a:avLst/>
          </a:prstGeom>
        </p:spPr>
      </p:pic>
      <p:sp>
        <p:nvSpPr>
          <p:cNvPr id="13" name="Out_1_dot"/>
          <p:cNvSpPr/>
          <p:nvPr/>
        </p:nvSpPr>
        <p:spPr>
          <a:xfrm>
            <a:off x="7772400" y="2551175"/>
            <a:ext cx="365760" cy="365760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Out_1"/>
          <p:cNvSpPr txBox="1"/>
          <p:nvPr/>
        </p:nvSpPr>
        <p:spPr>
          <a:xfrm>
            <a:off x="8275320" y="2505456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A"/>
                </a:solidFill>
                <a:latin typeface="Segoe UI"/>
              </a:rPr>
              <a:t>Digestat cair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pupuk kaya N, encerkan 1:10</a:t>
            </a:r>
          </a:p>
        </p:txBody>
      </p:sp>
      <p:pic>
        <p:nvPicPr>
          <p:cNvPr id="15" name="Out_2_card" descr="raise_4.35_0.6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843784"/>
            <a:ext cx="4617720" cy="1207007"/>
          </a:xfrm>
          <a:prstGeom prst="rect">
            <a:avLst/>
          </a:prstGeom>
        </p:spPr>
      </p:pic>
      <p:sp>
        <p:nvSpPr>
          <p:cNvPr id="16" name="Out_2_dot"/>
          <p:cNvSpPr/>
          <p:nvPr/>
        </p:nvSpPr>
        <p:spPr>
          <a:xfrm>
            <a:off x="7772400" y="3264408"/>
            <a:ext cx="365760" cy="365760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Out_2"/>
          <p:cNvSpPr txBox="1"/>
          <p:nvPr/>
        </p:nvSpPr>
        <p:spPr>
          <a:xfrm>
            <a:off x="8275320" y="321868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A"/>
                </a:solidFill>
                <a:latin typeface="Segoe UI"/>
              </a:rPr>
              <a:t>Digestat padat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laci kompos</a:t>
            </a:r>
          </a:p>
        </p:txBody>
      </p:sp>
      <p:sp>
        <p:nvSpPr>
          <p:cNvPr id="18" name="SDG_0"/>
          <p:cNvSpPr/>
          <p:nvPr/>
        </p:nvSpPr>
        <p:spPr>
          <a:xfrm>
            <a:off x="7635240" y="395020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C89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7.1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bahan bakar masak bersih ≈ 3,0 kg LPG-eq/bulan</a:t>
            </a:r>
          </a:p>
        </p:txBody>
      </p:sp>
      <p:sp>
        <p:nvSpPr>
          <p:cNvPr id="19" name="SDG_1"/>
          <p:cNvSpPr/>
          <p:nvPr/>
        </p:nvSpPr>
        <p:spPr>
          <a:xfrm>
            <a:off x="9646920" y="395020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E0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11.6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0,55 t/thn dialihkan dari sampah kota</a:t>
            </a:r>
          </a:p>
        </p:txBody>
      </p:sp>
      <p:sp>
        <p:nvSpPr>
          <p:cNvPr id="20" name="SDG_2"/>
          <p:cNvSpPr/>
          <p:nvPr/>
        </p:nvSpPr>
        <p:spPr>
          <a:xfrm>
            <a:off x="7635240" y="495604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A07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12.3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sisa makanan diolah di sumber</a:t>
            </a:r>
          </a:p>
        </p:txBody>
      </p:sp>
      <p:sp>
        <p:nvSpPr>
          <p:cNvPr id="21" name="SDG_3"/>
          <p:cNvSpPr/>
          <p:nvPr/>
        </p:nvSpPr>
        <p:spPr>
          <a:xfrm>
            <a:off x="9646920" y="495604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13.2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0,72 t CO₂e/thn terhindar (potensi)</a:t>
            </a:r>
          </a:p>
        </p:txBody>
      </p:sp>
      <p:pic>
        <p:nvPicPr>
          <p:cNvPr id="22" name="Hyp_card" descr="aura_7.40_0.85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754880"/>
            <a:ext cx="7406640" cy="1417319"/>
          </a:xfrm>
          <a:prstGeom prst="rect">
            <a:avLst/>
          </a:prstGeom>
        </p:spPr>
      </p:pic>
      <p:sp>
        <p:nvSpPr>
          <p:cNvPr id="23" name="Hyp"/>
          <p:cNvSpPr txBox="1"/>
          <p:nvPr/>
        </p:nvSpPr>
        <p:spPr>
          <a:xfrm>
            <a:off x="731520" y="5166360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8741A"/>
                </a:solidFill>
                <a:latin typeface="Segoe UI"/>
              </a:rPr>
              <a:t>H1 </a:t>
            </a:r>
            <a:r>
              <a:rPr sz="1100" b="0">
                <a:solidFill>
                  <a:srgbClr val="4A5B52"/>
                </a:solidFill>
                <a:latin typeface="Segoe UI"/>
              </a:rPr>
              <a:t>Pada OLR ≤ 3,4 kg VS/m³·hari dan HRT ≈ 34 hari: CH₄ ≥ 50 %, ≥ 0,30 m³ CH₄/kg VS, FOS/TAC &lt; 0,4.   </a:t>
            </a:r>
            <a:r>
              <a:rPr sz="1100" b="1">
                <a:solidFill>
                  <a:srgbClr val="B8741A"/>
                </a:solidFill>
                <a:latin typeface="Segoe UI"/>
              </a:rPr>
              <a:t>H2 </a:t>
            </a:r>
            <a:r>
              <a:rPr sz="1100" b="0">
                <a:solidFill>
                  <a:srgbClr val="4A5B52"/>
                </a:solidFill>
                <a:latin typeface="Segoe UI"/>
              </a:rPr>
              <a:t>SUS ≥ 68.</a:t>
            </a:r>
          </a:p>
        </p:txBody>
      </p:sp>
      <p:sp>
        <p:nvSpPr>
          <p:cNvPr id="24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Design calculation (this work) using Zhang et al. 2007; Xu et al. 2018; IPCC 2006 Vol. 5 Ch. 3; IPCC AR5 GWP100 = 28; UN A/RES/70/1 (SDG targets).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87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28546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05 · PRODUK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Digester 0,19 m² </a:t>
            </a:r>
            <a:r>
              <a:rPr sz="3200" b="1">
                <a:solidFill>
                  <a:srgbClr val="158A52"/>
                </a:solidFill>
                <a:latin typeface="Segoe UI"/>
              </a:rPr>
              <a:t>dengan kembaran digital.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05</a:t>
            </a:r>
          </a:p>
        </p:txBody>
      </p:sp>
      <p:pic>
        <p:nvPicPr>
          <p:cNvPr id="7" name="HW_card" descr="aura_3.60_4.60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463040"/>
            <a:ext cx="3931920" cy="4846320"/>
          </a:xfrm>
          <a:prstGeom prst="rect">
            <a:avLst/>
          </a:prstGeom>
        </p:spPr>
      </p:pic>
      <p:pic>
        <p:nvPicPr>
          <p:cNvPr id="8" name="FX_FLOAT_HW" descr="hw_outer_sc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10512"/>
            <a:ext cx="2775204" cy="4160520"/>
          </a:xfrm>
          <a:prstGeom prst="rect">
            <a:avLst/>
          </a:prstGeom>
        </p:spPr>
      </p:pic>
      <p:graphicFrame>
        <p:nvGraphicFramePr>
          <p:cNvPr id="9" name="SpecHW"/>
          <p:cNvGraphicFramePr>
            <a:graphicFrameLocks noGrp="1"/>
          </p:cNvGraphicFramePr>
          <p:nvPr/>
        </p:nvGraphicFramePr>
        <p:xfrm>
          <a:off x="4069080" y="1783080"/>
          <a:ext cx="3611880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Hardware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Nilai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Tapak × tinggi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44 × 44 × 112 cm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Volume kerja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100 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Beban nominal / puncak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1,5 / 3,0 kg SM/hari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HRT / OLR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34 hari / 3,4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Kontroler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ESP32-S3 (Wi-Fi, BLE)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Sensor proses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T, pH, NDIR CH₄, level, mass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Keamanan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alarm bocor MQ-4, katup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Arch_card" descr="raise_4.11_1.81_0.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435607"/>
            <a:ext cx="4398264" cy="2291334"/>
          </a:xfrm>
          <a:prstGeom prst="rect">
            <a:avLst/>
          </a:prstGeom>
        </p:spPr>
      </p:pic>
      <p:pic>
        <p:nvPicPr>
          <p:cNvPr id="11" name="Arch" descr="fig_architect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1828800"/>
            <a:ext cx="3611880" cy="1504950"/>
          </a:xfrm>
          <a:prstGeom prst="rect">
            <a:avLst/>
          </a:prstGeom>
        </p:spPr>
      </p:pic>
      <p:graphicFrame>
        <p:nvGraphicFramePr>
          <p:cNvPr id="12" name="SpecSW"/>
          <p:cNvGraphicFramePr>
            <a:graphicFrameLocks noGrp="1"/>
          </p:cNvGraphicFramePr>
          <p:nvPr/>
        </p:nvGraphicFramePr>
        <p:xfrm>
          <a:off x="8001000" y="3886200"/>
          <a:ext cx="361188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Software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Implementasi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Telemetri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sampling 15 mnt → Firebase RTDB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Antarmuka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PWA, live di aruna-id.web.app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Panduan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alert interlock + AI edukator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provisioning BLE, offline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sp>
        <p:nvSpPr>
          <p:cNvPr id="13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This work (3D model &amp; live app); Espressif ESP32-S3 datasheet; Google Firebase Realtime Database documentation.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42" dur="2600" accel="50000" decel="50000" autoRev="1" fill="hold" repeatCount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482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06 · HARDWARE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Alir gravitasi, </a:t>
            </a:r>
            <a:r>
              <a:rPr sz="3200" b="1">
                <a:solidFill>
                  <a:srgbClr val="158A52"/>
                </a:solidFill>
                <a:latin typeface="Segoe UI"/>
              </a:rPr>
              <a:t>berinstrumen kontrol proses.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06</a:t>
            </a:r>
          </a:p>
        </p:txBody>
      </p:sp>
      <p:pic>
        <p:nvPicPr>
          <p:cNvPr id="7" name="Xray" descr="hw_xray_sc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691640"/>
            <a:ext cx="2555748" cy="4343400"/>
          </a:xfrm>
          <a:prstGeom prst="rect">
            <a:avLst/>
          </a:prstGeom>
        </p:spPr>
      </p:pic>
      <p:cxnSp>
        <p:nvCxnSpPr>
          <p:cNvPr id="8" name="Line_layar"/>
          <p:cNvCxnSpPr/>
          <p:nvPr/>
        </p:nvCxnSpPr>
        <p:spPr>
          <a:xfrm>
            <a:off x="2514600" y="1984248"/>
            <a:ext cx="908286" cy="737033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X_PULSE_Pt_layar"/>
          <p:cNvSpPr/>
          <p:nvPr/>
        </p:nvSpPr>
        <p:spPr>
          <a:xfrm>
            <a:off x="3368022" y="2666417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_layar"/>
          <p:cNvSpPr txBox="1"/>
          <p:nvPr/>
        </p:nvSpPr>
        <p:spPr>
          <a:xfrm>
            <a:off x="548640" y="18288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Panel 7″ + ESP32-S3</a:t>
            </a:r>
          </a:p>
        </p:txBody>
      </p:sp>
      <p:cxnSp>
        <p:nvCxnSpPr>
          <p:cNvPr id="11" name="Line_pencacah"/>
          <p:cNvCxnSpPr/>
          <p:nvPr/>
        </p:nvCxnSpPr>
        <p:spPr>
          <a:xfrm>
            <a:off x="2514600" y="2670048"/>
            <a:ext cx="1359801" cy="123793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X_PULSE_Pt_pencacah"/>
          <p:cNvSpPr/>
          <p:nvPr/>
        </p:nvSpPr>
        <p:spPr>
          <a:xfrm>
            <a:off x="3819537" y="2738977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_pencacah"/>
          <p:cNvSpPr txBox="1"/>
          <p:nvPr/>
        </p:nvSpPr>
        <p:spPr>
          <a:xfrm>
            <a:off x="548640" y="25146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Pencacah dua poros</a:t>
            </a:r>
          </a:p>
        </p:txBody>
      </p:sp>
      <p:cxnSp>
        <p:nvCxnSpPr>
          <p:cNvPr id="14" name="Line_loadcell"/>
          <p:cNvCxnSpPr/>
          <p:nvPr/>
        </p:nvCxnSpPr>
        <p:spPr>
          <a:xfrm flipV="1">
            <a:off x="2514600" y="2994149"/>
            <a:ext cx="1410490" cy="361699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X_PULSE_Pt_loadcell"/>
          <p:cNvSpPr/>
          <p:nvPr/>
        </p:nvSpPr>
        <p:spPr>
          <a:xfrm>
            <a:off x="3870226" y="2939285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_loadcell"/>
          <p:cNvSpPr txBox="1"/>
          <p:nvPr/>
        </p:nvSpPr>
        <p:spPr>
          <a:xfrm>
            <a:off x="548640" y="32004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Load cell (HX711)</a:t>
            </a:r>
          </a:p>
        </p:txBody>
      </p:sp>
      <p:cxnSp>
        <p:nvCxnSpPr>
          <p:cNvPr id="17" name="Line_pengaduk"/>
          <p:cNvCxnSpPr/>
          <p:nvPr/>
        </p:nvCxnSpPr>
        <p:spPr>
          <a:xfrm flipV="1">
            <a:off x="2514600" y="3438708"/>
            <a:ext cx="1453086" cy="602940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X_PULSE_Pt_pengaduk"/>
          <p:cNvSpPr/>
          <p:nvPr/>
        </p:nvSpPr>
        <p:spPr>
          <a:xfrm>
            <a:off x="3912822" y="3383844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_pengaduk"/>
          <p:cNvSpPr txBox="1"/>
          <p:nvPr/>
        </p:nvSpPr>
        <p:spPr>
          <a:xfrm>
            <a:off x="548640" y="38862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Pengaduk, 5 mnt / 2 jam</a:t>
            </a:r>
          </a:p>
        </p:txBody>
      </p:sp>
      <p:cxnSp>
        <p:nvCxnSpPr>
          <p:cNvPr id="20" name="Line_keran"/>
          <p:cNvCxnSpPr/>
          <p:nvPr/>
        </p:nvCxnSpPr>
        <p:spPr>
          <a:xfrm flipV="1">
            <a:off x="2514600" y="4275196"/>
            <a:ext cx="1243089" cy="452252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X_PULSE_Pt_keran"/>
          <p:cNvSpPr/>
          <p:nvPr/>
        </p:nvSpPr>
        <p:spPr>
          <a:xfrm>
            <a:off x="3702825" y="4220332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_keran"/>
          <p:cNvSpPr txBox="1"/>
          <p:nvPr/>
        </p:nvSpPr>
        <p:spPr>
          <a:xfrm>
            <a:off x="548640" y="45720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Keran digestat cair</a:t>
            </a:r>
          </a:p>
        </p:txBody>
      </p:sp>
      <p:cxnSp>
        <p:nvCxnSpPr>
          <p:cNvPr id="23" name="Line_kompos"/>
          <p:cNvCxnSpPr/>
          <p:nvPr/>
        </p:nvCxnSpPr>
        <p:spPr>
          <a:xfrm flipV="1">
            <a:off x="2514600" y="5147964"/>
            <a:ext cx="1096559" cy="265284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X_PULSE_Pt_kompos"/>
          <p:cNvSpPr/>
          <p:nvPr/>
        </p:nvSpPr>
        <p:spPr>
          <a:xfrm>
            <a:off x="3556295" y="5093100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ab_kompos"/>
          <p:cNvSpPr txBox="1"/>
          <p:nvPr/>
        </p:nvSpPr>
        <p:spPr>
          <a:xfrm>
            <a:off x="548640" y="52578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Laci digestat padat</a:t>
            </a:r>
          </a:p>
        </p:txBody>
      </p:sp>
      <p:graphicFrame>
        <p:nvGraphicFramePr>
          <p:cNvPr id="26" name="Inst"/>
          <p:cNvGraphicFramePr>
            <a:graphicFrameLocks noGrp="1"/>
          </p:cNvGraphicFramePr>
          <p:nvPr/>
        </p:nvGraphicFramePr>
        <p:xfrm>
          <a:off x="6263640" y="1783080"/>
          <a:ext cx="5349240" cy="3072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/>
                <a:gridCol w="1417320"/>
                <a:gridCol w="13258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Sensor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Rentang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Akurasi / fungsi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Suhu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DS18B20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−55–125 °C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±0.5 °C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CH₄ biogas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NDIR MH-440D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0–100 % vol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T90 &lt; 30 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Bocor CH₄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MQ-4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300–10,000 ppm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alarm 10 % LEL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pH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probe kaca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0–14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kalibrasi 3 titik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ultrasonik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0–100 % isi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≈ ±1 cm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Massa input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load cell + HX711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0–5 kg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24-bit ADC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Volume gas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meter diafragma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referensi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Int_card" descr="aura_5.85_1.00_0.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709160"/>
            <a:ext cx="5989320" cy="1554480"/>
          </a:xfrm>
          <a:prstGeom prst="rect">
            <a:avLst/>
          </a:prstGeom>
        </p:spPr>
      </p:pic>
      <p:sp>
        <p:nvSpPr>
          <p:cNvPr id="28" name="Int"/>
          <p:cNvSpPr txBox="1"/>
          <p:nvPr/>
        </p:nvSpPr>
        <p:spPr>
          <a:xfrm>
            <a:off x="6446520" y="510235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8A52"/>
                </a:solidFill>
                <a:latin typeface="Segoe UI"/>
              </a:rPr>
              <a:t>Interlock keamanan &amp; proses  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B52"/>
                </a:solidFill>
                <a:latin typeface="Segoe UI"/>
              </a:rPr>
              <a:t>bocor &gt; 5.000 ppm → katup tutup · pH &lt; 6,5 → hentikan umpan · T &lt; 30 °C → alert insulasi · level &gt; 90 % → panen</a:t>
            </a:r>
          </a:p>
        </p:txBody>
      </p:sp>
      <p:sp>
        <p:nvSpPr>
          <p:cNvPr id="29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Maxim/Analog Devices DS18B20 datasheet; Winsen MH-440D (NDIR, 0–100 % vol) &amp; MQ-4 (300–10,000 ppm) datasheets; CH₄ LEL 5 % vol.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06" dur="1100" autoRev="1" fill="hold" repeatCount="indefinite" accel="50000" decel="50000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08" dur="1100" autoRev="1" fill="hold" repeatCount="indefinite" accel="50000" decel="50000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0" dur="1100" autoRev="1" fill="hold" repeatCount="indefinite" accel="50000" decel="50000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2" dur="1100" autoRev="1" fill="hold" repeatCount="indefinite" accel="50000" decel="50000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4" dur="1100" autoRev="1" fill="hold" repeatCount="indefinite" accel="50000" decel="50000"/>
                                        <p:tgtEl>
                                          <p:spTgt spid="2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6" dur="1100" autoRev="1" fill="hold" repeatCount="indefinite" accel="50000" decel="50000"/>
                                        <p:tgtEl>
                                          <p:spTgt spid="2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1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482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07 · APLIKASI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Dari sinyal mentah </a:t>
            </a:r>
            <a:r>
              <a:rPr sz="3200" b="1">
                <a:solidFill>
                  <a:srgbClr val="158A52"/>
                </a:solidFill>
                <a:latin typeface="Segoe UI"/>
              </a:rPr>
              <a:t>ke keputusan yang jelas.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07</a:t>
            </a:r>
          </a:p>
        </p:txBody>
      </p:sp>
      <p:pic>
        <p:nvPicPr>
          <p:cNvPr id="7" name="Control_card" descr="raise_4.71_4.71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4946904" cy="4946904"/>
          </a:xfrm>
          <a:prstGeom prst="rect">
            <a:avLst/>
          </a:prstGeom>
        </p:spPr>
      </p:pic>
      <p:pic>
        <p:nvPicPr>
          <p:cNvPr id="8" name="Control" descr="sci_contr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4160520" cy="4160520"/>
          </a:xfrm>
          <a:prstGeom prst="rect">
            <a:avLst/>
          </a:prstGeom>
        </p:spPr>
      </p:pic>
      <p:pic>
        <p:nvPicPr>
          <p:cNvPr id="9" name="Ph_0_card" descr="raise_2.04_4.30_0.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463040"/>
            <a:ext cx="2505456" cy="4572000"/>
          </a:xfrm>
          <a:prstGeom prst="rect">
            <a:avLst/>
          </a:prstGeom>
        </p:spPr>
      </p:pic>
      <p:pic>
        <p:nvPicPr>
          <p:cNvPr id="10" name="Ph_0" descr="scr_sci_hom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828800"/>
            <a:ext cx="1773936" cy="3840480"/>
          </a:xfrm>
          <a:prstGeom prst="rect">
            <a:avLst/>
          </a:prstGeom>
        </p:spPr>
      </p:pic>
      <p:sp>
        <p:nvSpPr>
          <p:cNvPr id="11" name="PhL_0"/>
          <p:cNvSpPr txBox="1"/>
          <p:nvPr/>
        </p:nvSpPr>
        <p:spPr>
          <a:xfrm>
            <a:off x="5074920" y="573328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A5B52"/>
                </a:solidFill>
                <a:latin typeface="Segoe UI"/>
              </a:rPr>
              <a:t>Status</a:t>
            </a:r>
          </a:p>
        </p:txBody>
      </p:sp>
      <p:pic>
        <p:nvPicPr>
          <p:cNvPr id="12" name="Ph_1_card" descr="raise_2.04_4.30_0.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463040"/>
            <a:ext cx="2505456" cy="4572000"/>
          </a:xfrm>
          <a:prstGeom prst="rect">
            <a:avLst/>
          </a:prstGeom>
        </p:spPr>
      </p:pic>
      <p:pic>
        <p:nvPicPr>
          <p:cNvPr id="13" name="FX_FLOAT_Ph_1" descr="scr_sci_monito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828800"/>
            <a:ext cx="1773936" cy="3840480"/>
          </a:xfrm>
          <a:prstGeom prst="rect">
            <a:avLst/>
          </a:prstGeom>
        </p:spPr>
      </p:pic>
      <p:sp>
        <p:nvSpPr>
          <p:cNvPr id="14" name="PhL_1"/>
          <p:cNvSpPr txBox="1"/>
          <p:nvPr/>
        </p:nvSpPr>
        <p:spPr>
          <a:xfrm>
            <a:off x="7086600" y="573328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A5B52"/>
                </a:solidFill>
                <a:latin typeface="Segoe UI"/>
              </a:rPr>
              <a:t>Tren + zona ideal</a:t>
            </a:r>
          </a:p>
        </p:txBody>
      </p:sp>
      <p:pic>
        <p:nvPicPr>
          <p:cNvPr id="15" name="Ph_2_card" descr="raise_2.04_4.30_0.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19" y="1463040"/>
            <a:ext cx="2505456" cy="4572000"/>
          </a:xfrm>
          <a:prstGeom prst="rect">
            <a:avLst/>
          </a:prstGeom>
        </p:spPr>
      </p:pic>
      <p:pic>
        <p:nvPicPr>
          <p:cNvPr id="16" name="Ph_2" descr="scr_sci_cha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280" y="1828800"/>
            <a:ext cx="1773936" cy="3840480"/>
          </a:xfrm>
          <a:prstGeom prst="rect">
            <a:avLst/>
          </a:prstGeom>
        </p:spPr>
      </p:pic>
      <p:sp>
        <p:nvSpPr>
          <p:cNvPr id="17" name="PhL_2"/>
          <p:cNvSpPr txBox="1"/>
          <p:nvPr/>
        </p:nvSpPr>
        <p:spPr>
          <a:xfrm>
            <a:off x="9098280" y="573328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A5B52"/>
                </a:solidFill>
                <a:latin typeface="Segoe UI"/>
              </a:rPr>
              <a:t>AI edukator</a:t>
            </a:r>
          </a:p>
        </p:txBody>
      </p:sp>
      <p:sp>
        <p:nvSpPr>
          <p:cNvPr id="18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This work (rule-based controller, live PWA). Rule thresholds: pH 6.5–7.5 and FOS/TAC &lt; 0.4 (Chen et al. 2008, Bioresour. Technol. 99:4044; Liu et al. 2021, Appl. Sci. 11:11843).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62" dur="2600" accel="50000" decel="50000" autoRev="1" fill="hold" repeatCount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6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1" grpId="0" animBg="1"/>
      <p:bldP spid="14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482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08 · USE CASE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Satu hari operasi, </a:t>
            </a:r>
            <a:r>
              <a:rPr sz="3200" b="1">
                <a:solidFill>
                  <a:srgbClr val="158A52"/>
                </a:solidFill>
                <a:latin typeface="Segoe UI"/>
              </a:rPr>
              <a:t>terkuantifikasi.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08</a:t>
            </a:r>
          </a:p>
        </p:txBody>
      </p:sp>
      <p:pic>
        <p:nvPicPr>
          <p:cNvPr id="7" name="UC_0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3" y="1463040"/>
            <a:ext cx="2743200" cy="4846320"/>
          </a:xfrm>
          <a:prstGeom prst="rect">
            <a:avLst/>
          </a:prstGeom>
        </p:spPr>
      </p:pic>
      <p:pic>
        <p:nvPicPr>
          <p:cNvPr id="8" name="UC_0" descr="uc_sci_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47088"/>
            <a:ext cx="1975104" cy="2036552"/>
          </a:xfrm>
          <a:prstGeom prst="rect">
            <a:avLst/>
          </a:prstGeom>
        </p:spPr>
      </p:pic>
      <p:sp>
        <p:nvSpPr>
          <p:cNvPr id="9" name="UC_0_dot"/>
          <p:cNvSpPr/>
          <p:nvPr/>
        </p:nvSpPr>
        <p:spPr>
          <a:xfrm>
            <a:off x="658368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UC_0_t"/>
          <p:cNvSpPr txBox="1"/>
          <p:nvPr/>
        </p:nvSpPr>
        <p:spPr>
          <a:xfrm>
            <a:off x="640080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Isi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1,5 kg SM + 1,5 L air; ditimbang &amp; dicacah</a:t>
            </a:r>
          </a:p>
        </p:txBody>
      </p:sp>
      <p:pic>
        <p:nvPicPr>
          <p:cNvPr id="11" name="UC_1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48" y="1463040"/>
            <a:ext cx="2743200" cy="4846320"/>
          </a:xfrm>
          <a:prstGeom prst="rect">
            <a:avLst/>
          </a:prstGeom>
        </p:spPr>
      </p:pic>
      <p:pic>
        <p:nvPicPr>
          <p:cNvPr id="12" name="UC_1" descr="uc_sci_16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0924" y="1847088"/>
            <a:ext cx="1975104" cy="2036552"/>
          </a:xfrm>
          <a:prstGeom prst="rect">
            <a:avLst/>
          </a:prstGeom>
        </p:spPr>
      </p:pic>
      <p:sp>
        <p:nvSpPr>
          <p:cNvPr id="13" name="UC_1_dot"/>
          <p:cNvSpPr/>
          <p:nvPr/>
        </p:nvSpPr>
        <p:spPr>
          <a:xfrm>
            <a:off x="2907792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UC_1_t"/>
          <p:cNvSpPr txBox="1"/>
          <p:nvPr/>
        </p:nvSpPr>
        <p:spPr>
          <a:xfrm>
            <a:off x="2889504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Cerna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OLR 3,4, aduk 5 mnt / 2 jam</a:t>
            </a:r>
          </a:p>
        </p:txBody>
      </p:sp>
      <p:pic>
        <p:nvPicPr>
          <p:cNvPr id="15" name="UC_2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463040"/>
            <a:ext cx="2743200" cy="4846320"/>
          </a:xfrm>
          <a:prstGeom prst="rect">
            <a:avLst/>
          </a:prstGeom>
        </p:spPr>
      </p:pic>
      <p:pic>
        <p:nvPicPr>
          <p:cNvPr id="16" name="UC_2" descr="uc_sci_2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348" y="1847088"/>
            <a:ext cx="1975104" cy="2036552"/>
          </a:xfrm>
          <a:prstGeom prst="rect">
            <a:avLst/>
          </a:prstGeom>
        </p:spPr>
      </p:pic>
      <p:sp>
        <p:nvSpPr>
          <p:cNvPr id="17" name="UC_2_dot"/>
          <p:cNvSpPr/>
          <p:nvPr/>
        </p:nvSpPr>
        <p:spPr>
          <a:xfrm>
            <a:off x="5157216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UC_2_t"/>
          <p:cNvSpPr txBox="1"/>
          <p:nvPr/>
        </p:nvSpPr>
        <p:spPr>
          <a:xfrm>
            <a:off x="5138927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Pantau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telemetri 15 mnt; alert jika pH &lt; 6,5</a:t>
            </a:r>
          </a:p>
        </p:txBody>
      </p:sp>
      <p:pic>
        <p:nvPicPr>
          <p:cNvPr id="19" name="UC_3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1463040"/>
            <a:ext cx="2743200" cy="4846320"/>
          </a:xfrm>
          <a:prstGeom prst="rect">
            <a:avLst/>
          </a:prstGeom>
        </p:spPr>
      </p:pic>
      <p:pic>
        <p:nvPicPr>
          <p:cNvPr id="20" name="UC_3" descr="uc_sci_33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9771" y="1847088"/>
            <a:ext cx="1975104" cy="2036552"/>
          </a:xfrm>
          <a:prstGeom prst="rect">
            <a:avLst/>
          </a:prstGeom>
        </p:spPr>
      </p:pic>
      <p:sp>
        <p:nvSpPr>
          <p:cNvPr id="21" name="UC_3_dot"/>
          <p:cNvSpPr/>
          <p:nvPr/>
        </p:nvSpPr>
        <p:spPr>
          <a:xfrm>
            <a:off x="7406640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UC_3_t"/>
          <p:cNvSpPr txBox="1"/>
          <p:nvPr/>
        </p:nvSpPr>
        <p:spPr>
          <a:xfrm>
            <a:off x="7388352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Pupuk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digestat cair diencerkan 1:10</a:t>
            </a:r>
          </a:p>
        </p:txBody>
      </p:sp>
      <p:pic>
        <p:nvPicPr>
          <p:cNvPr id="23" name="UC_4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463040"/>
            <a:ext cx="2743200" cy="4846320"/>
          </a:xfrm>
          <a:prstGeom prst="rect">
            <a:avLst/>
          </a:prstGeom>
        </p:spPr>
      </p:pic>
      <p:pic>
        <p:nvPicPr>
          <p:cNvPr id="24" name="UC_4" descr="uc_sci_43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9196" y="1847088"/>
            <a:ext cx="1975104" cy="2036552"/>
          </a:xfrm>
          <a:prstGeom prst="rect">
            <a:avLst/>
          </a:prstGeom>
        </p:spPr>
      </p:pic>
      <p:sp>
        <p:nvSpPr>
          <p:cNvPr id="25" name="UC_4_dot"/>
          <p:cNvSpPr/>
          <p:nvPr/>
        </p:nvSpPr>
        <p:spPr>
          <a:xfrm>
            <a:off x="9656063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UC_4_t"/>
          <p:cNvSpPr txBox="1"/>
          <p:nvPr/>
        </p:nvSpPr>
        <p:spPr>
          <a:xfrm>
            <a:off x="9637776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Masak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214 L biogas ≈ 43 mnt pada 0,30 m³/jam</a:t>
            </a:r>
          </a:p>
        </p:txBody>
      </p:sp>
      <p:sp>
        <p:nvSpPr>
          <p:cNvPr id="27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Design calculation (this work); stove demand 0.2–0.45 m³/h (SSWM/Akvopedia, Biogas combustion, 2019).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9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36975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09 · METODE PENELITIAN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R&amp;D (model 4D) dengan </a:t>
            </a:r>
            <a:r>
              <a:rPr sz="3200" b="1">
                <a:solidFill>
                  <a:srgbClr val="158A52"/>
                </a:solidFill>
                <a:latin typeface="Segoe UI"/>
              </a:rPr>
              <a:t>kriteria lulus kuantitatif.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09</a:t>
            </a:r>
          </a:p>
        </p:txBody>
      </p:sp>
      <p:pic>
        <p:nvPicPr>
          <p:cNvPr id="7" name="M4D_card" descr="raise_6.46_2.15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6547104" cy="2610611"/>
          </a:xfrm>
          <a:prstGeom prst="rect">
            <a:avLst/>
          </a:prstGeom>
        </p:spPr>
      </p:pic>
      <p:pic>
        <p:nvPicPr>
          <p:cNvPr id="8" name="M4D" descr="fig_method_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5760720" cy="1824228"/>
          </a:xfrm>
          <a:prstGeom prst="rect">
            <a:avLst/>
          </a:prstGeom>
        </p:spPr>
      </p:pic>
      <p:pic>
        <p:nvPicPr>
          <p:cNvPr id="9" name="Eq_card" descr="aura_5.55_2.85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1463040"/>
            <a:ext cx="5715000" cy="3246120"/>
          </a:xfrm>
          <a:prstGeom prst="rect">
            <a:avLst/>
          </a:prstGeom>
        </p:spPr>
      </p:pic>
      <p:sp>
        <p:nvSpPr>
          <p:cNvPr id="10" name="Eq"/>
          <p:cNvSpPr txBox="1"/>
          <p:nvPr/>
        </p:nvSpPr>
        <p:spPr>
          <a:xfrm>
            <a:off x="6720840" y="1901952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Neraca massa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OLR = F·TS·(VS/TS) /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w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     HRT =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w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/ Q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Kinetika (Gompertz)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M(t) = P·exp{−exp[(R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m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·e/P)(λ − t) + 1]}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CH₄ teoretis (Buswell)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C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c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H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h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O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o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N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n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+ H₂O → CH₄ + CO₂ + NH₃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Energi &amp; memasak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E =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CH4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· 35.8 MJ/m³ ;  t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cook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=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biogas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/ q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stove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CH₄ TPA terhindar (IPCC)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W · DOC · DOC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f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· MCF · F · 16/12 · (1 − OX)</a:t>
            </a:r>
          </a:p>
        </p:txBody>
      </p:sp>
      <p:graphicFrame>
        <p:nvGraphicFramePr>
          <p:cNvPr id="11" name="Design"/>
          <p:cNvGraphicFramePr>
            <a:graphicFrameLocks noGrp="1"/>
          </p:cNvGraphicFramePr>
          <p:nvPr/>
        </p:nvGraphicFramePr>
        <p:xfrm>
          <a:off x="548640" y="4553712"/>
          <a:ext cx="7040880" cy="150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20"/>
                <a:gridCol w="2377440"/>
                <a:gridCol w="178308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Eksperimen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Desain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Standar / metode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Luaran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BMP assay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ISR ≥ 2, 37 °C, triplo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VDI 4630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P, Rm, 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Semi-kontinu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OLR 2,0 / 3,4 / 4,5 × 3 ulangan, 2 HRT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APHA 2540 G; FOS/TAC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yield, stabilitas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Uji lapangan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[n] rumah tangga × 30 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telemetri + logbook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CH₄ %, L/hari, kg/hari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Usability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kuesioner pasca uji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SUS (Brooke 1996)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skor 0–100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pic>
        <p:nvPicPr>
          <p:cNvPr id="12" name="Stat_card" descr="raise_4.15_1.58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4233672"/>
            <a:ext cx="4434840" cy="2084832"/>
          </a:xfrm>
          <a:prstGeom prst="rect">
            <a:avLst/>
          </a:prstGeom>
        </p:spPr>
      </p:pic>
      <p:sp>
        <p:nvSpPr>
          <p:cNvPr id="13" name="Stats"/>
          <p:cNvSpPr txBox="1"/>
          <p:nvPr/>
        </p:nvSpPr>
        <p:spPr>
          <a:xfrm>
            <a:off x="7973568" y="4626864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00" b="1">
                <a:solidFill>
                  <a:srgbClr val="10201A"/>
                </a:solidFill>
                <a:latin typeface="Segoe UI"/>
              </a:rPr>
              <a:t>Kinetika: </a:t>
            </a:r>
            <a:r>
              <a:rPr sz="1100" b="0">
                <a:solidFill>
                  <a:srgbClr val="4A5B52"/>
                </a:solidFill>
                <a:latin typeface="Segoe UI"/>
              </a:rPr>
              <a:t>least squares non-linear, R², RMSE</a:t>
            </a:r>
          </a:p>
          <a:p>
            <a:pPr algn="l">
              <a:lnSpc>
                <a:spcPct val="108000"/>
              </a:lnSpc>
            </a:pPr>
            <a:r>
              <a:rPr sz="9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00" b="1">
                <a:solidFill>
                  <a:srgbClr val="10201A"/>
                </a:solidFill>
                <a:latin typeface="Segoe UI"/>
              </a:rPr>
              <a:t>Perbandingan: </a:t>
            </a:r>
            <a:r>
              <a:rPr sz="1100" b="0">
                <a:solidFill>
                  <a:srgbClr val="4A5B52"/>
                </a:solidFill>
                <a:latin typeface="Segoe UI"/>
              </a:rPr>
              <a:t>ANOVA satu arah + Tukey, α = 0,05</a:t>
            </a:r>
          </a:p>
          <a:p>
            <a:pPr algn="l">
              <a:lnSpc>
                <a:spcPct val="108000"/>
              </a:lnSpc>
            </a:pPr>
            <a:r>
              <a:rPr sz="9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00" b="1">
                <a:solidFill>
                  <a:srgbClr val="10201A"/>
                </a:solidFill>
                <a:latin typeface="Segoe UI"/>
              </a:rPr>
              <a:t>Biodegradabilitas: </a:t>
            </a:r>
            <a:r>
              <a:rPr sz="1100" b="0">
                <a:solidFill>
                  <a:srgbClr val="4A5B52"/>
                </a:solidFill>
                <a:latin typeface="Segoe UI"/>
              </a:rPr>
              <a:t>BMP(exp) / BMP(theoretical)</a:t>
            </a:r>
          </a:p>
        </p:txBody>
      </p:sp>
      <p:sp>
        <p:nvSpPr>
          <p:cNvPr id="14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Thiagarajan et al. 1974; Buswell &amp; Mueller 1952, Ind. Eng. Chem. 44:550; Zwietering et al. 1990, Appl. Environ. Microbiol. 56:1875; VDI 4630 (2016); APHA 2540 (2017); Brooke 1996.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7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87689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10 · UJI LAPANGAN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Rencana pengukuran dengan </a:t>
            </a:r>
            <a:r>
              <a:rPr sz="3200" b="1">
                <a:solidFill>
                  <a:srgbClr val="158A52"/>
                </a:solidFill>
                <a:latin typeface="Segoe UI"/>
              </a:rPr>
              <a:t>kriteria penerimaan.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10</a:t>
            </a:r>
          </a:p>
        </p:txBody>
      </p:sp>
      <p:sp>
        <p:nvSpPr>
          <p:cNvPr id="7" name="Tag_Ilustrasi"/>
          <p:cNvSpPr/>
          <p:nvPr/>
        </p:nvSpPr>
        <p:spPr>
          <a:xfrm>
            <a:off x="548640" y="1481328"/>
            <a:ext cx="3346521" cy="329184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9525">
            <a:solidFill>
              <a:srgbClr val="FBF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B8741A"/>
                </a:solidFill>
                <a:latin typeface="Segoe UI"/>
              </a:rPr>
              <a:t>DATA ILUSTRASI · ganti dengan hasil uji</a:t>
            </a:r>
          </a:p>
        </p:txBody>
      </p:sp>
      <p:graphicFrame>
        <p:nvGraphicFramePr>
          <p:cNvPr id="8" name="Plan"/>
          <p:cNvGraphicFramePr>
            <a:graphicFrameLocks noGrp="1"/>
          </p:cNvGraphicFramePr>
          <p:nvPr/>
        </p:nvGraphicFramePr>
        <p:xfrm>
          <a:off x="548640" y="1938528"/>
          <a:ext cx="7498080" cy="3867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20"/>
                <a:gridCol w="1828800"/>
                <a:gridCol w="1143000"/>
                <a:gridCol w="1463040"/>
                <a:gridCol w="164592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Instrumen / metode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Frekuensi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Kriteria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Dasar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Suhu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DS18B20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15 menit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30–38 °C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Weiland (2010)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pH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probe terkalibrasi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15 menit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6.8–7.5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Chen et al. (2008)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FOS/TAC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titrasi dua titik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mingguan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&lt; 0.4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Liu et al. (2021)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Kadar CH₄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NDIR + [ref. analyser]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kontinu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≥ 50 % vol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Xu et al. (2018)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Volume biogas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meter gas diafragma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harian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≥ 171 L/d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kajian ini (−20 %)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TS / VS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APHA 2540 G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mingguan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VS tersisih ≥ 70 %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Mata-Alvarez (2000)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N, P, K digestat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analisis lab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akhir siklus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[standard]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standar pupuk nasional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Usability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SUS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akhir uji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≥ 68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Bangor et al. (2009)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pic>
        <p:nvPicPr>
          <p:cNvPr id="9" name="FT_card" descr="aura_3.65_4.25_0.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618488"/>
            <a:ext cx="3977639" cy="4526280"/>
          </a:xfrm>
          <a:prstGeom prst="rect">
            <a:avLst/>
          </a:prstGeom>
        </p:spPr>
      </p:pic>
      <p:pic>
        <p:nvPicPr>
          <p:cNvPr id="10" name="FT_img" descr="ft_sc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029968"/>
            <a:ext cx="3154680" cy="3198495"/>
          </a:xfrm>
          <a:prstGeom prst="rect">
            <a:avLst/>
          </a:prstGeom>
        </p:spPr>
      </p:pic>
      <p:sp>
        <p:nvSpPr>
          <p:cNvPr id="11" name="FT_note"/>
          <p:cNvSpPr txBox="1"/>
          <p:nvPr/>
        </p:nvSpPr>
        <p:spPr>
          <a:xfrm>
            <a:off x="8321040" y="5833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6958D"/>
                </a:solidFill>
                <a:latin typeface="Segoe UI"/>
              </a:rPr>
              <a:t>Skenario render; ganti dengan foto lapangan.</a:t>
            </a:r>
          </a:p>
        </p:txBody>
      </p:sp>
      <p:sp>
        <p:nvSpPr>
          <p:cNvPr id="12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Weiland 2010; Chen et al. 2008; Liu et al. 2021, Appl. Sci. 11(24):11843; Xu et al. 2018; Mata-Alvarez et al. 2000, Bioresour. Technol. 74:3; APHA 2540 (2017); Bangor et al. 2009, J. Usability Stud. 4:114.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7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46833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11 · HASIL &amp; PEMBAHASAN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Prediksi desain </a:t>
            </a:r>
            <a:r>
              <a:rPr sz="3200" b="1">
                <a:solidFill>
                  <a:srgbClr val="158A52"/>
                </a:solidFill>
                <a:latin typeface="Segoe UI"/>
              </a:rPr>
              <a:t>dibandingkan literatur.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11</a:t>
            </a:r>
          </a:p>
        </p:txBody>
      </p:sp>
      <p:sp>
        <p:nvSpPr>
          <p:cNvPr id="7" name="Tag_Pred"/>
          <p:cNvSpPr/>
          <p:nvPr/>
        </p:nvSpPr>
        <p:spPr>
          <a:xfrm>
            <a:off x="548640" y="1481328"/>
            <a:ext cx="4475622" cy="329184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9525">
            <a:solidFill>
              <a:srgbClr val="FBF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B8741A"/>
                </a:solidFill>
                <a:latin typeface="Segoe UI"/>
              </a:rPr>
              <a:t>PREDIKSI DARI PERHITUNGAN DESAIN · data ukur menyusul</a:t>
            </a:r>
          </a:p>
        </p:txBody>
      </p:sp>
      <p:graphicFrame>
        <p:nvGraphicFramePr>
          <p:cNvPr id="8" name="Res"/>
          <p:cNvGraphicFramePr>
            <a:graphicFrameLocks noGrp="1"/>
          </p:cNvGraphicFramePr>
          <p:nvPr/>
        </p:nvGraphicFramePr>
        <p:xfrm>
          <a:off x="548640" y="1938528"/>
          <a:ext cx="4937760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40"/>
                <a:gridCol w="1051560"/>
                <a:gridCol w="96012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RT 4 orang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Nominal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Puncak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Input (kg SM/hari)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0,58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1,5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3,0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OLR (kg VS/m³·d)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1,3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3,4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6,8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HRT (hari)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Biogas (L/hari)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214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428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Masak (mnt/hari)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Setara LPG (kg/bln)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1,2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3,0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6,0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Terhindar (t CO₂e/thn)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0,28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0,72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1,44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Gomp_card" descr="raise_6.46_3.70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545336"/>
            <a:ext cx="6547104" cy="4026788"/>
          </a:xfrm>
          <a:prstGeom prst="rect">
            <a:avLst/>
          </a:prstGeom>
        </p:spPr>
      </p:pic>
      <p:pic>
        <p:nvPicPr>
          <p:cNvPr id="10" name="Gomp" descr="sci_gompert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938528"/>
            <a:ext cx="5760720" cy="3240404"/>
          </a:xfrm>
          <a:prstGeom prst="rect">
            <a:avLst/>
          </a:prstGeom>
        </p:spPr>
      </p:pic>
      <p:sp>
        <p:nvSpPr>
          <p:cNvPr id="11" name="Disc"/>
          <p:cNvSpPr txBox="1"/>
          <p:nvPr/>
        </p:nvSpPr>
        <p:spPr>
          <a:xfrm>
            <a:off x="548640" y="49834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1">
                <a:solidFill>
                  <a:srgbClr val="10201A"/>
                </a:solidFill>
                <a:latin typeface="Segoe UI"/>
              </a:rPr>
              <a:t>Biodegradabilitas ≈ 61 %: </a:t>
            </a:r>
            <a:r>
              <a:rPr sz="1150" b="0">
                <a:solidFill>
                  <a:srgbClr val="4A5B52"/>
                </a:solidFill>
                <a:latin typeface="Segoe UI"/>
              </a:rPr>
              <a:t>BMP 390 vs Buswell 643 mL CH₄/g VS, dalam rentang literatur (Zhang et al., 2007).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1">
                <a:solidFill>
                  <a:srgbClr val="10201A"/>
                </a:solidFill>
                <a:latin typeface="Segoe UI"/>
              </a:rPr>
              <a:t>Stabilitas: </a:t>
            </a:r>
            <a:r>
              <a:rPr sz="1150" b="0">
                <a:solidFill>
                  <a:srgbClr val="4A5B52"/>
                </a:solidFill>
                <a:latin typeface="Segoe UI"/>
              </a:rPr>
              <a:t>OLR nominal 3,4 dalam rentang stabil; OLR puncak 6,8 pada HRT 17 hari berisiko akumulasi VFA → interlock pH (Chen et al., 2008).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1">
                <a:solidFill>
                  <a:srgbClr val="10201A"/>
                </a:solidFill>
                <a:latin typeface="Segoe UI"/>
              </a:rPr>
              <a:t>Skala: </a:t>
            </a:r>
            <a:r>
              <a:rPr sz="1150" b="0">
                <a:solidFill>
                  <a:srgbClr val="4A5B52"/>
                </a:solidFill>
                <a:latin typeface="Segoe UI"/>
              </a:rPr>
              <a:t>rumah tangga 4 orang ≈ 17 mnt/hari; beban nominal cocok untuk keluarga besar atau warung kecil.</a:t>
            </a:r>
          </a:p>
        </p:txBody>
      </p:sp>
      <p:sp>
        <p:nvSpPr>
          <p:cNvPr id="12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Design calculation (this work); Gompertz parameters from literature ranges, to be fitted (Zwietering et al. 1990); Zhang et al. 2007; Chen et al. 2008; UNEP 2024 (53 kg/cap/yr).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7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87689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12 · PENGEMBANGAN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Dari prototipe </a:t>
            </a:r>
            <a:r>
              <a:rPr sz="3200" b="1">
                <a:solidFill>
                  <a:srgbClr val="158A52"/>
                </a:solidFill>
                <a:latin typeface="Segoe UI"/>
              </a:rPr>
              <a:t>ke dampak terverifikasi.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12</a:t>
            </a:r>
          </a:p>
        </p:txBody>
      </p:sp>
      <p:pic>
        <p:nvPicPr>
          <p:cNvPr id="7" name="Sens_card" descr="raise_5.76_3.13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5907024" cy="3506724"/>
          </a:xfrm>
          <a:prstGeom prst="rect">
            <a:avLst/>
          </a:prstGeom>
        </p:spPr>
      </p:pic>
      <p:pic>
        <p:nvPicPr>
          <p:cNvPr id="8" name="Sens" descr="sci_sensi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5120640" cy="2720339"/>
          </a:xfrm>
          <a:prstGeom prst="rect">
            <a:avLst/>
          </a:prstGeom>
        </p:spPr>
      </p:pic>
      <p:pic>
        <p:nvPicPr>
          <p:cNvPr id="9" name="Road_0_card" descr="aura_6.05_1.3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1463040"/>
            <a:ext cx="6172200" cy="1847088"/>
          </a:xfrm>
          <a:prstGeom prst="rect">
            <a:avLst/>
          </a:prstGeom>
        </p:spPr>
      </p:pic>
      <p:sp>
        <p:nvSpPr>
          <p:cNvPr id="10" name="FX_PULSE_Road_0"/>
          <p:cNvSpPr/>
          <p:nvPr/>
        </p:nvSpPr>
        <p:spPr>
          <a:xfrm>
            <a:off x="6236208" y="1947672"/>
            <a:ext cx="420624" cy="420624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Road_0"/>
          <p:cNvSpPr txBox="1"/>
          <p:nvPr/>
        </p:nvSpPr>
        <p:spPr>
          <a:xfrm>
            <a:off x="6812280" y="1874519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58A52"/>
                </a:solidFill>
                <a:latin typeface="Segoe UI"/>
              </a:rPr>
              <a:t>0–6 bulan  ·  </a:t>
            </a:r>
            <a:r>
              <a:rPr sz="1500" b="1">
                <a:solidFill>
                  <a:srgbClr val="10201A"/>
                </a:solidFill>
                <a:latin typeface="Segoe UI"/>
              </a:rPr>
              <a:t>Validasi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Uji BMP + semi-kontinu; fit P, Rm, λ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kalibrasi NDIR vs gas analyser</a:t>
            </a:r>
          </a:p>
        </p:txBody>
      </p:sp>
      <p:pic>
        <p:nvPicPr>
          <p:cNvPr id="12" name="Road_1_card" descr="raise_6.05_1.32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834640"/>
            <a:ext cx="6172200" cy="1847088"/>
          </a:xfrm>
          <a:prstGeom prst="rect">
            <a:avLst/>
          </a:prstGeom>
        </p:spPr>
      </p:pic>
      <p:sp>
        <p:nvSpPr>
          <p:cNvPr id="13" name="Road_1_dot"/>
          <p:cNvSpPr/>
          <p:nvPr/>
        </p:nvSpPr>
        <p:spPr>
          <a:xfrm>
            <a:off x="6236208" y="3319272"/>
            <a:ext cx="420624" cy="420624"/>
          </a:xfrm>
          <a:prstGeom prst="ellipse">
            <a:avLst/>
          </a:prstGeom>
          <a:solidFill>
            <a:srgbClr val="0E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ad_1"/>
          <p:cNvSpPr txBox="1"/>
          <p:nvPr/>
        </p:nvSpPr>
        <p:spPr>
          <a:xfrm>
            <a:off x="6812280" y="32461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6–12 bulan  ·  </a:t>
            </a:r>
            <a:r>
              <a:rPr sz="1500" b="1">
                <a:solidFill>
                  <a:srgbClr val="10201A"/>
                </a:solidFill>
                <a:latin typeface="Segoe UI"/>
              </a:rPr>
              <a:t>Optimasi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E7A6A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ko-digesti ke C/N 20–30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E7A6A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scrubber H₂S; insulasi untuk T &lt; 25 °C</a:t>
            </a:r>
          </a:p>
        </p:txBody>
      </p:sp>
      <p:pic>
        <p:nvPicPr>
          <p:cNvPr id="15" name="Road_2_card" descr="raise_6.05_1.32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206240"/>
            <a:ext cx="6172200" cy="1847088"/>
          </a:xfrm>
          <a:prstGeom prst="rect">
            <a:avLst/>
          </a:prstGeom>
        </p:spPr>
      </p:pic>
      <p:sp>
        <p:nvSpPr>
          <p:cNvPr id="16" name="Road_2_dot"/>
          <p:cNvSpPr/>
          <p:nvPr/>
        </p:nvSpPr>
        <p:spPr>
          <a:xfrm>
            <a:off x="6236208" y="4690872"/>
            <a:ext cx="420624" cy="420624"/>
          </a:xfrm>
          <a:prstGeom prst="ellipse">
            <a:avLst/>
          </a:prstGeom>
          <a:solidFill>
            <a:srgbClr val="0F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Road_2"/>
          <p:cNvSpPr txBox="1"/>
          <p:nvPr/>
        </p:nvSpPr>
        <p:spPr>
          <a:xfrm>
            <a:off x="6812280" y="46177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6B40"/>
                </a:solidFill>
                <a:latin typeface="Segoe UI"/>
              </a:rPr>
              <a:t>12–36 bulan  ·  </a:t>
            </a:r>
            <a:r>
              <a:rPr sz="1500" b="1">
                <a:solidFill>
                  <a:srgbClr val="10201A"/>
                </a:solidFill>
                <a:latin typeface="Segoe UI"/>
              </a:rPr>
              <a:t>Skala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6B40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AI pengenal sampah di perangkat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6B40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pilot dapur MBG dengan MRV</a:t>
            </a:r>
          </a:p>
        </p:txBody>
      </p:sp>
      <p:sp>
        <p:nvSpPr>
          <p:cNvPr id="18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Sensitivity analysis (this work); C/N 20–30 and H₂S removal (Weiland 2010, Appl. Microbiol. Biotechnol. 85:849; Mata-Alvarez et al. 2000).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6" presetClass="emph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animScale>
                                      <p:cBhvr>
                                        <p:cTn id="62" dur="1100" autoRev="1" fill="hold" repeatCount="indefinite" accel="50000" decel="50000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6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679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13 · KESIMPULAN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Jawaban atas </a:t>
            </a:r>
            <a:r>
              <a:rPr sz="3200" b="1">
                <a:solidFill>
                  <a:srgbClr val="158A52"/>
                </a:solidFill>
                <a:latin typeface="Segoe UI"/>
              </a:rPr>
              <a:t>pertanyaan penelitian.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13</a:t>
            </a:r>
          </a:p>
        </p:txBody>
      </p:sp>
      <p:pic>
        <p:nvPicPr>
          <p:cNvPr id="7" name="Con_0_card" descr="raise_7.00_0.9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463040"/>
            <a:ext cx="7040880" cy="1508760"/>
          </a:xfrm>
          <a:prstGeom prst="rect">
            <a:avLst/>
          </a:prstGeom>
        </p:spPr>
      </p:pic>
      <p:sp>
        <p:nvSpPr>
          <p:cNvPr id="8" name="Con_0_dot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RQ1</a:t>
            </a:r>
          </a:p>
        </p:txBody>
      </p:sp>
      <p:sp>
        <p:nvSpPr>
          <p:cNvPr id="9" name="Con_0"/>
          <p:cNvSpPr txBox="1"/>
          <p:nvPr/>
        </p:nvSpPr>
        <p:spPr>
          <a:xfrm>
            <a:off x="1325880" y="1892807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Digester 100 L pada OLR 3,4 kg VS/m³·hari dan HRT ≈ 34 hari diprediksi stabil untuk 1,5 kg/hari; puncak ≈ 3 kg/hari perlu dijeda.</a:t>
            </a:r>
          </a:p>
        </p:txBody>
      </p:sp>
      <p:pic>
        <p:nvPicPr>
          <p:cNvPr id="10" name="Con_1_card" descr="raise_7.00_0.9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487168"/>
            <a:ext cx="7040880" cy="1508760"/>
          </a:xfrm>
          <a:prstGeom prst="rect">
            <a:avLst/>
          </a:prstGeom>
        </p:spPr>
      </p:pic>
      <p:sp>
        <p:nvSpPr>
          <p:cNvPr id="11" name="Con_1_dot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RQ2</a:t>
            </a:r>
          </a:p>
        </p:txBody>
      </p:sp>
      <p:sp>
        <p:nvSpPr>
          <p:cNvPr id="12" name="Con_1"/>
          <p:cNvSpPr txBox="1"/>
          <p:nvPr/>
        </p:nvSpPr>
        <p:spPr>
          <a:xfrm>
            <a:off x="1325880" y="2916936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≈ 214 L biogas/hari → ≈ 43 menit masak, ≈ 3,0 kg LPG-eq/bulan, dan ≈ 0,72 t CO₂e/thn terhindar.</a:t>
            </a:r>
          </a:p>
        </p:txBody>
      </p:sp>
      <p:pic>
        <p:nvPicPr>
          <p:cNvPr id="13" name="Con_2_card" descr="raise_7.00_0.9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11296"/>
            <a:ext cx="7040880" cy="1508760"/>
          </a:xfrm>
          <a:prstGeom prst="rect">
            <a:avLst/>
          </a:prstGeom>
        </p:spPr>
      </p:pic>
      <p:sp>
        <p:nvSpPr>
          <p:cNvPr id="14" name="Con_2_dot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RQ3</a:t>
            </a:r>
          </a:p>
        </p:txBody>
      </p:sp>
      <p:sp>
        <p:nvSpPr>
          <p:cNvPr id="15" name="Con_2"/>
          <p:cNvSpPr txBox="1"/>
          <p:nvPr/>
        </p:nvSpPr>
        <p:spPr>
          <a:xfrm>
            <a:off x="1325880" y="3941064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Sensor NDIR, interlock berbasis aturan, dan panduan aplikasi menutup celah pemantauan; SUS akan diukur.</a:t>
            </a:r>
          </a:p>
        </p:txBody>
      </p:sp>
      <p:pic>
        <p:nvPicPr>
          <p:cNvPr id="16" name="GHG_card" descr="raise_4.86_3.05_0.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1389888"/>
            <a:ext cx="5084064" cy="3431110"/>
          </a:xfrm>
          <a:prstGeom prst="rect">
            <a:avLst/>
          </a:prstGeom>
        </p:spPr>
      </p:pic>
      <p:pic>
        <p:nvPicPr>
          <p:cNvPr id="17" name="GHG" descr="sci_gh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783080"/>
            <a:ext cx="4297680" cy="2644726"/>
          </a:xfrm>
          <a:prstGeom prst="rect">
            <a:avLst/>
          </a:prstGeom>
        </p:spPr>
      </p:pic>
      <p:pic>
        <p:nvPicPr>
          <p:cNvPr id="18" name="QR_card" descr="aura_7.00_1.10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617720"/>
            <a:ext cx="7040880" cy="1645920"/>
          </a:xfrm>
          <a:prstGeom prst="rect">
            <a:avLst/>
          </a:prstGeom>
        </p:spPr>
      </p:pic>
      <p:pic>
        <p:nvPicPr>
          <p:cNvPr id="19" name="QR" descr="q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010912"/>
            <a:ext cx="841248" cy="841248"/>
          </a:xfrm>
          <a:prstGeom prst="rect">
            <a:avLst/>
          </a:prstGeom>
        </p:spPr>
      </p:pic>
      <p:sp>
        <p:nvSpPr>
          <p:cNvPr id="20" name="QR_t"/>
          <p:cNvSpPr txBox="1"/>
          <p:nvPr/>
        </p:nvSpPr>
        <p:spPr>
          <a:xfrm>
            <a:off x="1691640" y="504748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Aplikasi prototipe live  </a:t>
            </a:r>
            <a:r>
              <a:rPr sz="1300" b="1">
                <a:solidFill>
                  <a:srgbClr val="158A52"/>
                </a:solidFill>
                <a:latin typeface="Segoe UI"/>
              </a:rPr>
              <a:t>aruna-id.web.app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86958D"/>
                </a:solidFill>
                <a:latin typeface="Segoe UI"/>
              </a:rPr>
              <a:t>Nilai adalah prediksi desain; akan diganti hasil ukur setelah pengujian.</a:t>
            </a:r>
          </a:p>
        </p:txBody>
      </p:sp>
      <p:sp>
        <p:nvSpPr>
          <p:cNvPr id="21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Sumber: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This work; IPCC 2006 Vol. 5 Ch. 3 (FOD defaults); IPCC AR5 (GWP100 = 28).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5811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14 · REFERENSI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Literatur </a:t>
            </a:r>
            <a:r>
              <a:rPr sz="3200" b="1">
                <a:solidFill>
                  <a:srgbClr val="158A52"/>
                </a:solidFill>
                <a:latin typeface="Segoe UI"/>
              </a:rPr>
              <a:t>dan sumber data.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14</a:t>
            </a:r>
          </a:p>
        </p:txBody>
      </p:sp>
      <p:pic>
        <p:nvPicPr>
          <p:cNvPr id="7" name="Ref_0_card" descr="raise_5.95_4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371600"/>
            <a:ext cx="6080760" cy="4983480"/>
          </a:xfrm>
          <a:prstGeom prst="rect">
            <a:avLst/>
          </a:prstGeom>
        </p:spPr>
      </p:pic>
      <p:sp>
        <p:nvSpPr>
          <p:cNvPr id="8" name="Ref_0"/>
          <p:cNvSpPr txBox="1"/>
          <p:nvPr/>
        </p:nvSpPr>
        <p:spPr>
          <a:xfrm>
            <a:off x="731520" y="1801368"/>
            <a:ext cx="5120640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1. </a:t>
            </a:r>
            <a:r>
              <a:rPr sz="860" b="0">
                <a:solidFill>
                  <a:srgbClr val="4A5B52"/>
                </a:solidFill>
                <a:latin typeface="Segoe UI"/>
              </a:rPr>
              <a:t>APHA (2017). Standard Methods for the Examination of Water and Wastewater, 23rd ed., Method 2540.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2. </a:t>
            </a:r>
            <a:r>
              <a:rPr sz="860" b="0">
                <a:solidFill>
                  <a:srgbClr val="4A5B52"/>
                </a:solidFill>
                <a:latin typeface="Segoe UI"/>
              </a:rPr>
              <a:t>Appels, L. et al. (2008). Prog. Energy Combust. Sci. 34(6), 755–781. doi:10.1016/j.pecs.2008.06.002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3. </a:t>
            </a:r>
            <a:r>
              <a:rPr sz="860" b="0">
                <a:solidFill>
                  <a:srgbClr val="4A5B52"/>
                </a:solidFill>
                <a:latin typeface="Segoe UI"/>
              </a:rPr>
              <a:t>Bangor, A., Kortum, P., Miller, J. (2009). J. Usability Stud. 4(3), 114–123.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4. </a:t>
            </a:r>
            <a:r>
              <a:rPr sz="860" b="0">
                <a:solidFill>
                  <a:srgbClr val="4A5B52"/>
                </a:solidFill>
                <a:latin typeface="Segoe UI"/>
              </a:rPr>
              <a:t>Bappenas (2021). Food Loss and Waste in Indonesia. Ministry of National Development Planning.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5. </a:t>
            </a:r>
            <a:r>
              <a:rPr sz="860" b="0">
                <a:solidFill>
                  <a:srgbClr val="4A5B52"/>
                </a:solidFill>
                <a:latin typeface="Segoe UI"/>
              </a:rPr>
              <a:t>Brooke, J. (1996). SUS: a 'quick and dirty' usability scale. Usability Evaluation in Industry, 189–194.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6. </a:t>
            </a:r>
            <a:r>
              <a:rPr sz="860" b="0">
                <a:solidFill>
                  <a:srgbClr val="4A5B52"/>
                </a:solidFill>
                <a:latin typeface="Segoe UI"/>
              </a:rPr>
              <a:t>Buswell, A. M., Mueller, H. F. (1952). Ind. Eng. Chem. 44(3), 550–552. doi:10.1021/ie50507a033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7. </a:t>
            </a:r>
            <a:r>
              <a:rPr sz="860" b="0">
                <a:solidFill>
                  <a:srgbClr val="4A5B52"/>
                </a:solidFill>
                <a:latin typeface="Segoe UI"/>
              </a:rPr>
              <a:t>Chen, Y., Cheng, J. J., Creamer, K. S. (2008). Bioresour. Technol. 99(10), 4044–4064. doi:10.1016/j.biortech.2007.01.057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8. </a:t>
            </a:r>
            <a:r>
              <a:rPr sz="860" b="0">
                <a:solidFill>
                  <a:srgbClr val="4A5B52"/>
                </a:solidFill>
                <a:latin typeface="Segoe UI"/>
              </a:rPr>
              <a:t>ESDM (2021). Strategi pengembangan biogas menuju target 1 juta biodigester. Ditjen EBTKE.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9. </a:t>
            </a:r>
            <a:r>
              <a:rPr sz="860" b="0">
                <a:solidFill>
                  <a:srgbClr val="4A5B52"/>
                </a:solidFill>
                <a:latin typeface="Segoe UI"/>
              </a:rPr>
              <a:t>HomeBiogas (2024). HomeBiogas 2 product specifications. homebiogas.com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10. </a:t>
            </a:r>
            <a:r>
              <a:rPr sz="860" b="0">
                <a:solidFill>
                  <a:srgbClr val="4A5B52"/>
                </a:solidFill>
                <a:latin typeface="Segoe UI"/>
              </a:rPr>
              <a:t>IPCC (2006). Guidelines for National GHG Inventories, Vol. 5 Waste, Ch. 3.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11. </a:t>
            </a:r>
            <a:r>
              <a:rPr sz="860" b="0">
                <a:solidFill>
                  <a:srgbClr val="4A5B52"/>
                </a:solidFill>
                <a:latin typeface="Segoe UI"/>
              </a:rPr>
              <a:t>IPCC (2014). Climate Change 2014: Synthesis Report (AR5).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12. </a:t>
            </a:r>
            <a:r>
              <a:rPr sz="860" b="0">
                <a:solidFill>
                  <a:srgbClr val="4A5B52"/>
                </a:solidFill>
                <a:latin typeface="Segoe UI"/>
              </a:rPr>
              <a:t>KLHK (2023). SIPSN: Komposisi sampah. sipsn.menlhk.go.id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13. </a:t>
            </a:r>
            <a:r>
              <a:rPr sz="860" b="0">
                <a:solidFill>
                  <a:srgbClr val="4A5B52"/>
                </a:solidFill>
                <a:latin typeface="Segoe UI"/>
              </a:rPr>
              <a:t>Liu, X. et al. (2021). Appl. Sci. 11(24), 11843. doi:10.3390/app112411843</a:t>
            </a:r>
          </a:p>
        </p:txBody>
      </p:sp>
      <p:pic>
        <p:nvPicPr>
          <p:cNvPr id="9" name="Ref_1_card" descr="raise_5.95_4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371600"/>
            <a:ext cx="6080760" cy="4983480"/>
          </a:xfrm>
          <a:prstGeom prst="rect">
            <a:avLst/>
          </a:prstGeom>
        </p:spPr>
      </p:pic>
      <p:sp>
        <p:nvSpPr>
          <p:cNvPr id="10" name="Ref_1"/>
          <p:cNvSpPr txBox="1"/>
          <p:nvPr/>
        </p:nvSpPr>
        <p:spPr>
          <a:xfrm>
            <a:off x="6355080" y="1801368"/>
            <a:ext cx="5120640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14. </a:t>
            </a:r>
            <a:r>
              <a:rPr sz="860" b="0">
                <a:solidFill>
                  <a:srgbClr val="4A5B52"/>
                </a:solidFill>
                <a:latin typeface="Segoe UI"/>
              </a:rPr>
              <a:t>Lomi (2024). How much energy does Lomi use? lomi.com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15. </a:t>
            </a:r>
            <a:r>
              <a:rPr sz="860" b="0">
                <a:solidFill>
                  <a:srgbClr val="4A5B52"/>
                </a:solidFill>
                <a:latin typeface="Segoe UI"/>
              </a:rPr>
              <a:t>Mata-Alvarez, J., Macé, S., Llabrés, P. (2000). Bioresour. Technol. 74(1), 3–16. doi:10.1016/S0960-8524(00)00023-7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16. </a:t>
            </a:r>
            <a:r>
              <a:rPr sz="860" b="0">
                <a:solidFill>
                  <a:srgbClr val="4A5B52"/>
                </a:solidFill>
                <a:latin typeface="Segoe UI"/>
              </a:rPr>
              <a:t>Prasetyono, S. et al. (2026). J. Mechatron. Electr. Power Veh. Technol. 17(1), 29–38. doi:10.55981/j.mev.2026.1352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17. </a:t>
            </a:r>
            <a:r>
              <a:rPr sz="860" b="0">
                <a:solidFill>
                  <a:srgbClr val="4A5B52"/>
                </a:solidFill>
                <a:latin typeface="Segoe UI"/>
              </a:rPr>
              <a:t>Rajendran, K. et al. (2012). Energies 5(8), 2911–2942. doi:10.3390/en5082911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18. </a:t>
            </a:r>
            <a:r>
              <a:rPr sz="860" b="0">
                <a:solidFill>
                  <a:srgbClr val="4A5B52"/>
                </a:solidFill>
                <a:latin typeface="Segoe UI"/>
              </a:rPr>
              <a:t>SSWM / Akvopedia (2019). Biogas combustion. sswm.info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19. </a:t>
            </a:r>
            <a:r>
              <a:rPr sz="860" b="0">
                <a:solidFill>
                  <a:srgbClr val="4A5B52"/>
                </a:solidFill>
                <a:latin typeface="Segoe UI"/>
              </a:rPr>
              <a:t>Thiagarajan, S., Semmel, D. S., Semmel, M. I. (1974). Instructional Development for Training Teachers of Exceptional Children. Indiana Univ.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20. </a:t>
            </a:r>
            <a:r>
              <a:rPr sz="860" b="0">
                <a:solidFill>
                  <a:srgbClr val="4A5B52"/>
                </a:solidFill>
                <a:latin typeface="Segoe UI"/>
              </a:rPr>
              <a:t>UNEP (2024). Food Waste Index Report 2024. Nairobi.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21. </a:t>
            </a:r>
            <a:r>
              <a:rPr sz="860" b="0">
                <a:solidFill>
                  <a:srgbClr val="4A5B52"/>
                </a:solidFill>
                <a:latin typeface="Segoe UI"/>
              </a:rPr>
              <a:t>VDI 4630 (2016). Fermentation of organic materials. Verein Deutscher Ingenieure.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22. </a:t>
            </a:r>
            <a:r>
              <a:rPr sz="860" b="0">
                <a:solidFill>
                  <a:srgbClr val="4A5B52"/>
                </a:solidFill>
                <a:latin typeface="Segoe UI"/>
              </a:rPr>
              <a:t>Weiland, P. (2010). Appl. Microbiol. Biotechnol. 85(4), 849–860. doi:10.1007/s00253-009-2246-7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23. </a:t>
            </a:r>
            <a:r>
              <a:rPr sz="860" b="0">
                <a:solidFill>
                  <a:srgbClr val="4A5B52"/>
                </a:solidFill>
                <a:latin typeface="Segoe UI"/>
              </a:rPr>
              <a:t>Winsen (n.d.). MH-440D NDIR CH₄ sensor; MQ-4 gas sensor datasheets.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24. </a:t>
            </a:r>
            <a:r>
              <a:rPr sz="860" b="0">
                <a:solidFill>
                  <a:srgbClr val="4A5B52"/>
                </a:solidFill>
                <a:latin typeface="Segoe UI"/>
              </a:rPr>
              <a:t>Xu, F. et al. (2018). Bioresour. Technol. 247, 1047–1058. doi:10.1016/j.biortech.2017.09.020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25. </a:t>
            </a:r>
            <a:r>
              <a:rPr sz="860" b="0">
                <a:solidFill>
                  <a:srgbClr val="4A5B52"/>
                </a:solidFill>
                <a:latin typeface="Segoe UI"/>
              </a:rPr>
              <a:t>Zhang, R. et al. (2007). Bioresour. Technol. 98(4), 929–935. doi:10.1016/j.biortech.2006.02.039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26. </a:t>
            </a:r>
            <a:r>
              <a:rPr sz="860" b="0">
                <a:solidFill>
                  <a:srgbClr val="4A5B52"/>
                </a:solidFill>
                <a:latin typeface="Segoe UI"/>
              </a:rPr>
              <a:t>Zwietering, M. H. et al. (1990). Appl. Environ. Microbiol. 56(6), 1875–1881. doi:10.1128/aem.56.6.1875-1881.1990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1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8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